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77" r:id="rId2"/>
    <p:sldId id="257" r:id="rId3"/>
    <p:sldId id="258" r:id="rId4"/>
    <p:sldId id="259" r:id="rId5"/>
    <p:sldId id="260" r:id="rId6"/>
    <p:sldId id="261" r:id="rId7"/>
    <p:sldId id="269" r:id="rId8"/>
    <p:sldId id="271" r:id="rId9"/>
    <p:sldId id="270" r:id="rId10"/>
    <p:sldId id="278" r:id="rId11"/>
    <p:sldId id="262" r:id="rId12"/>
    <p:sldId id="263" r:id="rId13"/>
    <p:sldId id="264" r:id="rId14"/>
    <p:sldId id="265" r:id="rId15"/>
    <p:sldId id="266" r:id="rId16"/>
    <p:sldId id="273" r:id="rId17"/>
    <p:sldId id="268"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414" autoAdjust="0"/>
    <p:restoredTop sz="94660"/>
  </p:normalViewPr>
  <p:slideViewPr>
    <p:cSldViewPr snapToGrid="0" snapToObjects="1">
      <p:cViewPr>
        <p:scale>
          <a:sx n="47" d="100"/>
          <a:sy n="47" d="100"/>
        </p:scale>
        <p:origin x="-2344" y="-840"/>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8/11/2026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8/11/2026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8/11/2026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8/11/2026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hyperlink" Target="https://www.sciencedirect.com/science/article/pii/0304397595001824?utm_source=chatgpt.com" TargetMode="External"/><Relationship Id="rId3" Type="http://schemas.openxmlformats.org/officeDocument/2006/relationships/image" Target="../media/image5.jpeg"/><Relationship Id="rId7" Type="http://schemas.openxmlformats.org/officeDocument/2006/relationships/hyperlink" Target="https://www.sciencedirect.com/science/article/abs/pii/B9780124177505500221?utm_source=chatgpt.com" TargetMode="External"/><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hyperlink" Target="https://hjemmesider.diku.dk/~henglein/bib/publications/thompson68.html?utm_source=chatgpt.com" TargetMode="External"/><Relationship Id="rId5" Type="http://schemas.openxmlformats.org/officeDocument/2006/relationships/hyperlink" Target="https://www.sigmod.org/publications/dblp/db/journals/jacm/Brzozowski64.html?utm_source=chatgpt.com" TargetMode="External"/><Relationship Id="rId4" Type="http://schemas.openxmlformats.org/officeDocument/2006/relationships/hyperlink" Target="https://doi.org/10.1147/rd.32.0114?utm_source=chatgpt.com"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6" name="Group 2"/>
          <p:cNvGrpSpPr/>
          <p:nvPr/>
        </p:nvGrpSpPr>
        <p:grpSpPr>
          <a:xfrm>
            <a:off x="898848" y="1397000"/>
            <a:ext cx="10494017" cy="4244371"/>
            <a:chOff x="635" y="0"/>
            <a:chExt cx="15741023" cy="6366555"/>
          </a:xfrm>
        </p:grpSpPr>
        <p:sp>
          <p:nvSpPr>
            <p:cNvPr id="94" name="Freeform 3"/>
            <p:cNvSpPr/>
            <p:nvPr/>
          </p:nvSpPr>
          <p:spPr>
            <a:xfrm>
              <a:off x="148930" y="0"/>
              <a:ext cx="15592728" cy="6366555"/>
            </a:xfrm>
            <a:prstGeom prst="rect">
              <a:avLst/>
            </a:prstGeom>
            <a:solidFill>
              <a:srgbClr val="000000">
                <a:alpha val="0"/>
              </a:srgbClr>
            </a:solidFill>
            <a:ln w="12700" cap="flat">
              <a:noFill/>
              <a:miter lim="400000"/>
            </a:ln>
            <a:effectLst/>
          </p:spPr>
          <p:txBody>
            <a:bodyPr wrap="square" lIns="45719" tIns="45719" rIns="45719" bIns="45719" numCol="1" anchor="t">
              <a:noAutofit/>
            </a:bodyPr>
            <a:lstStyle/>
            <a:p>
              <a:endParaRPr>
                <a:latin typeface="Times New Roman" panose="02020603050405020304" pitchFamily="18" charset="0"/>
                <a:cs typeface="Times New Roman" panose="02020603050405020304" pitchFamily="18" charset="0"/>
              </a:endParaRPr>
            </a:p>
          </p:txBody>
        </p:sp>
        <p:sp>
          <p:nvSpPr>
            <p:cNvPr id="95" name="TextBox 4"/>
            <p:cNvSpPr txBox="1"/>
            <p:nvPr/>
          </p:nvSpPr>
          <p:spPr>
            <a:xfrm>
              <a:off x="635" y="1175059"/>
              <a:ext cx="15592726" cy="4362732"/>
            </a:xfrm>
            <a:prstGeom prst="rect">
              <a:avLst/>
            </a:prstGeom>
            <a:noFill/>
            <a:ln w="12700" cap="flat">
              <a:noFill/>
              <a:miter lim="400000"/>
            </a:ln>
            <a:effectLst/>
          </p:spPr>
          <p:txBody>
            <a:bodyPr wrap="square" lIns="0" tIns="0" rIns="0" bIns="0" numCol="1" anchor="ctr">
              <a:spAutoFit/>
            </a:bodyPr>
            <a:lstStyle/>
            <a:p>
              <a:pPr algn="ctr">
                <a:lnSpc>
                  <a:spcPct val="150000"/>
                </a:lnSpc>
                <a:defRPr sz="4800" b="1">
                  <a:latin typeface="Times New Roman" panose="02020603050405020304"/>
                  <a:ea typeface="Times New Roman" panose="02020603050405020304"/>
                  <a:cs typeface="Times New Roman" panose="02020603050405020304"/>
                  <a:sym typeface="Times New Roman" panose="02020603050405020304"/>
                </a:defRPr>
              </a:pPr>
              <a:r>
                <a:rPr dirty="0">
                  <a:latin typeface="Times New Roman" panose="02020603050405020304" pitchFamily="18" charset="0"/>
                  <a:cs typeface="Times New Roman" panose="02020603050405020304" pitchFamily="18" charset="0"/>
                </a:rPr>
                <a:t>CAPSTONE PROJECT </a:t>
              </a:r>
            </a:p>
            <a:p>
              <a:pPr algn="ctr">
                <a:lnSpc>
                  <a:spcPct val="150000"/>
                </a:lnSpc>
              </a:pPr>
              <a:endParaRPr lang="en-US" sz="2400" b="1" dirty="0" smtClean="0">
                <a:latin typeface="Times New Roman" panose="02020603050405020304" pitchFamily="18" charset="0"/>
                <a:cs typeface="Times New Roman" panose="02020603050405020304" pitchFamily="18" charset="0"/>
              </a:endParaRPr>
            </a:p>
            <a:p>
              <a:pPr algn="ctr">
                <a:lnSpc>
                  <a:spcPct val="150000"/>
                </a:lnSpc>
              </a:pPr>
              <a:r>
                <a:rPr lang="en-US" sz="2400" b="1" dirty="0" smtClean="0">
                  <a:latin typeface="Times New Roman" panose="02020603050405020304" pitchFamily="18" charset="0"/>
                  <a:cs typeface="Times New Roman" panose="02020603050405020304" pitchFamily="18" charset="0"/>
                </a:rPr>
                <a:t>CSA1308-THEORY OF COMPUTATION</a:t>
              </a:r>
              <a:endParaRPr dirty="0">
                <a:latin typeface="Times New Roman" panose="02020603050405020304" pitchFamily="18" charset="0"/>
                <a:cs typeface="Times New Roman" panose="02020603050405020304" pitchFamily="18" charset="0"/>
              </a:endParaRPr>
            </a:p>
            <a:p>
              <a:pPr algn="ctr">
                <a:lnSpc>
                  <a:spcPct val="150000"/>
                </a:lnSpc>
                <a:defRPr sz="3000" b="1">
                  <a:latin typeface="Times New Roman" panose="02020603050405020304"/>
                  <a:ea typeface="Times New Roman" panose="02020603050405020304"/>
                  <a:cs typeface="Times New Roman" panose="02020603050405020304"/>
                  <a:sym typeface="Times New Roman" panose="02020603050405020304"/>
                </a:defRPr>
              </a:pPr>
              <a:endParaRPr lang="en-US" dirty="0">
                <a:latin typeface="Times New Roman" panose="02020603050405020304" pitchFamily="18" charset="0"/>
                <a:cs typeface="Times New Roman" panose="02020603050405020304" pitchFamily="18" charset="0"/>
              </a:endParaRPr>
            </a:p>
          </p:txBody>
        </p:sp>
      </p:grpSp>
      <p:sp>
        <p:nvSpPr>
          <p:cNvPr id="97" name="Freeform 6"/>
          <p:cNvSpPr/>
          <p:nvPr/>
        </p:nvSpPr>
        <p:spPr>
          <a:xfrm>
            <a:off x="10647763" y="191626"/>
            <a:ext cx="1135127" cy="1342899"/>
          </a:xfrm>
          <a:prstGeom prst="rect">
            <a:avLst/>
          </a:prstGeom>
          <a:blipFill>
            <a:blip r:embed="rId2"/>
            <a:stretch>
              <a:fillRect/>
            </a:stretch>
          </a:blipFill>
          <a:ln w="12700">
            <a:miter lim="400000"/>
          </a:ln>
        </p:spPr>
        <p:txBody>
          <a:bodyPr lIns="30476" tIns="30477" rIns="30476" bIns="30477"/>
          <a:lstStyle/>
          <a:p>
            <a:endParaRPr>
              <a:latin typeface="Times New Roman" panose="02020603050405020304" pitchFamily="18" charset="0"/>
              <a:cs typeface="Times New Roman" panose="02020603050405020304" pitchFamily="18" charset="0"/>
            </a:endParaRPr>
          </a:p>
        </p:txBody>
      </p:sp>
      <p:sp>
        <p:nvSpPr>
          <p:cNvPr id="98" name="Freeform 8"/>
          <p:cNvSpPr/>
          <p:nvPr/>
        </p:nvSpPr>
        <p:spPr>
          <a:xfrm>
            <a:off x="321386" y="204326"/>
            <a:ext cx="1520127" cy="1342899"/>
          </a:xfrm>
          <a:prstGeom prst="rect">
            <a:avLst/>
          </a:prstGeom>
          <a:blipFill>
            <a:blip r:embed="rId3"/>
            <a:stretch>
              <a:fillRect/>
            </a:stretch>
          </a:blipFill>
          <a:ln w="12700">
            <a:miter lim="400000"/>
          </a:ln>
        </p:spPr>
        <p:txBody>
          <a:bodyPr lIns="30476" tIns="30477" rIns="30476" bIns="30477"/>
          <a:lstStyle/>
          <a:p>
            <a:endParaRPr>
              <a:latin typeface="Times New Roman" panose="02020603050405020304" pitchFamily="18" charset="0"/>
              <a:cs typeface="Times New Roman" panose="02020603050405020304" pitchFamily="18" charset="0"/>
            </a:endParaRPr>
          </a:p>
        </p:txBody>
      </p:sp>
      <p:sp>
        <p:nvSpPr>
          <p:cNvPr id="99" name="Freeform 10"/>
          <p:cNvSpPr/>
          <p:nvPr/>
        </p:nvSpPr>
        <p:spPr>
          <a:xfrm>
            <a:off x="2352660" y="150276"/>
            <a:ext cx="7771258" cy="1395159"/>
          </a:xfrm>
          <a:prstGeom prst="rect">
            <a:avLst/>
          </a:prstGeom>
          <a:blipFill>
            <a:blip r:embed="rId4"/>
            <a:stretch>
              <a:fillRect/>
            </a:stretch>
          </a:blipFill>
          <a:ln w="12700">
            <a:miter lim="400000"/>
          </a:ln>
        </p:spPr>
        <p:txBody>
          <a:bodyPr lIns="30476" tIns="30477" rIns="30476" bIns="30477"/>
          <a:lstStyle/>
          <a:p>
            <a:endParaRPr>
              <a:latin typeface="Times New Roman" panose="02020603050405020304" pitchFamily="18" charset="0"/>
              <a:cs typeface="Times New Roman" panose="02020603050405020304" pitchFamily="18" charset="0"/>
            </a:endParaRPr>
          </a:p>
        </p:txBody>
      </p:sp>
      <p:sp>
        <p:nvSpPr>
          <p:cNvPr id="100" name="TextBox 11"/>
          <p:cNvSpPr txBox="1"/>
          <p:nvPr/>
        </p:nvSpPr>
        <p:spPr>
          <a:xfrm>
            <a:off x="7707113" y="4783193"/>
            <a:ext cx="4161383" cy="1530623"/>
          </a:xfrm>
          <a:prstGeom prst="rect">
            <a:avLst/>
          </a:prstGeom>
          <a:ln w="12700">
            <a:miter lim="400000"/>
          </a:ln>
        </p:spPr>
        <p:txBody>
          <a:bodyPr wrap="square" lIns="0" tIns="0" rIns="0" bIns="0">
            <a:noAutofit/>
          </a:bodyPr>
          <a:lstStyle/>
          <a:p>
            <a:pPr algn="just">
              <a:lnSpc>
                <a:spcPts val="2866"/>
              </a:lnSpc>
              <a:defRPr sz="3000" b="1">
                <a:latin typeface="Times New Roman" panose="02020603050405020304"/>
                <a:ea typeface="Times New Roman" panose="02020603050405020304"/>
                <a:cs typeface="Times New Roman" panose="02020603050405020304"/>
                <a:sym typeface="Times New Roman" panose="02020603050405020304"/>
              </a:defRPr>
            </a:pPr>
            <a:r>
              <a:rPr sz="2100" dirty="0">
                <a:latin typeface="Times New Roman" panose="02020603050405020304" pitchFamily="18" charset="0"/>
                <a:cs typeface="Times New Roman" panose="02020603050405020304" pitchFamily="18" charset="0"/>
              </a:rPr>
              <a:t>By</a:t>
            </a:r>
            <a:r>
              <a:rPr lang="en-US" sz="2100" dirty="0">
                <a:latin typeface="Times New Roman" panose="02020603050405020304" pitchFamily="18" charset="0"/>
                <a:cs typeface="Times New Roman" panose="02020603050405020304" pitchFamily="18" charset="0"/>
              </a:rPr>
              <a:t>:</a:t>
            </a:r>
            <a:endParaRPr sz="2100" dirty="0">
              <a:latin typeface="Times New Roman" panose="02020603050405020304" pitchFamily="18" charset="0"/>
              <a:cs typeface="Times New Roman" panose="02020603050405020304" pitchFamily="18" charset="0"/>
            </a:endParaRPr>
          </a:p>
          <a:p>
            <a:r>
              <a:rPr lang="en-IN" dirty="0" smtClean="0">
                <a:latin typeface="Times New Roman" pitchFamily="18" charset="0"/>
                <a:cs typeface="Times New Roman" pitchFamily="18" charset="0"/>
              </a:rPr>
              <a:t>192311039</a:t>
            </a:r>
            <a:r>
              <a:rPr lang="en-IN" dirty="0">
                <a:latin typeface="Times New Roman" pitchFamily="18" charset="0"/>
                <a:cs typeface="Times New Roman" pitchFamily="18" charset="0"/>
              </a:rPr>
              <a:t>	PETA.HARSHA VARDHAN</a:t>
            </a:r>
          </a:p>
          <a:p>
            <a:pPr algn="just">
              <a:lnSpc>
                <a:spcPts val="2866"/>
              </a:lnSpc>
              <a:defRPr sz="3000" b="1">
                <a:latin typeface="Times New Roman" panose="02020603050405020304"/>
                <a:ea typeface="Times New Roman" panose="02020603050405020304"/>
                <a:cs typeface="Times New Roman" panose="02020603050405020304"/>
                <a:sym typeface="Times New Roman" panose="02020603050405020304"/>
              </a:defRPr>
            </a:pPr>
            <a:endParaRPr lang="en-US" altLang="en-US" sz="2100" dirty="0">
              <a:latin typeface="Times New Roman" panose="02020603050405020304" pitchFamily="18" charset="0"/>
              <a:cs typeface="Times New Roman" panose="02020603050405020304" pitchFamily="18" charset="0"/>
            </a:endParaRPr>
          </a:p>
        </p:txBody>
      </p:sp>
      <p:sp>
        <p:nvSpPr>
          <p:cNvPr id="101" name="TextBox 12"/>
          <p:cNvSpPr txBox="1"/>
          <p:nvPr/>
        </p:nvSpPr>
        <p:spPr>
          <a:xfrm>
            <a:off x="898737" y="4906011"/>
            <a:ext cx="2094653" cy="1115690"/>
          </a:xfrm>
          <a:prstGeom prst="rect">
            <a:avLst/>
          </a:prstGeom>
          <a:ln w="12700">
            <a:miter lim="400000"/>
          </a:ln>
        </p:spPr>
        <p:txBody>
          <a:bodyPr wrap="square" lIns="0" tIns="0" rIns="0" bIns="0">
            <a:spAutoFit/>
          </a:bodyPr>
          <a:lstStyle/>
          <a:p>
            <a:pPr algn="just">
              <a:lnSpc>
                <a:spcPts val="2866"/>
              </a:lnSpc>
              <a:defRPr sz="3000" b="1">
                <a:latin typeface="Times New Roman" panose="02020603050405020304"/>
                <a:ea typeface="Times New Roman" panose="02020603050405020304"/>
                <a:cs typeface="Times New Roman" panose="02020603050405020304"/>
                <a:sym typeface="Times New Roman" panose="02020603050405020304"/>
              </a:defRPr>
            </a:pPr>
            <a:r>
              <a:rPr sz="2100" dirty="0">
                <a:latin typeface="Times New Roman" panose="02020603050405020304" pitchFamily="18" charset="0"/>
                <a:cs typeface="Times New Roman" panose="02020603050405020304" pitchFamily="18" charset="0"/>
              </a:rPr>
              <a:t>Faculty</a:t>
            </a:r>
            <a:r>
              <a:rPr lang="en-US" sz="2100" dirty="0">
                <a:latin typeface="Times New Roman" panose="02020603050405020304" pitchFamily="18" charset="0"/>
                <a:cs typeface="Times New Roman" panose="02020603050405020304" pitchFamily="18" charset="0"/>
              </a:rPr>
              <a:t>:</a:t>
            </a:r>
            <a:endParaRPr sz="2100" dirty="0">
              <a:latin typeface="Times New Roman" panose="02020603050405020304" pitchFamily="18" charset="0"/>
              <a:cs typeface="Times New Roman" panose="02020603050405020304" pitchFamily="18" charset="0"/>
            </a:endParaRPr>
          </a:p>
          <a:p>
            <a:pPr algn="just">
              <a:lnSpc>
                <a:spcPts val="2866"/>
              </a:lnSpc>
              <a:defRPr sz="3000" b="1">
                <a:latin typeface="Times New Roman" panose="02020603050405020304"/>
                <a:ea typeface="Times New Roman" panose="02020603050405020304"/>
                <a:cs typeface="Times New Roman" panose="02020603050405020304"/>
                <a:sym typeface="Times New Roman" panose="02020603050405020304"/>
              </a:defRPr>
            </a:pPr>
            <a:r>
              <a:rPr sz="2100" dirty="0" err="1" smtClean="0">
                <a:latin typeface="Times New Roman" panose="02020603050405020304" pitchFamily="18" charset="0"/>
                <a:cs typeface="Times New Roman" panose="02020603050405020304" pitchFamily="18" charset="0"/>
              </a:rPr>
              <a:t>Dr.</a:t>
            </a:r>
            <a:r>
              <a:rPr lang="en-US" sz="2100" dirty="0" err="1" smtClean="0">
                <a:latin typeface="Times New Roman" panose="02020603050405020304" pitchFamily="18" charset="0"/>
                <a:cs typeface="Times New Roman" panose="02020603050405020304" pitchFamily="18" charset="0"/>
              </a:rPr>
              <a:t>G.Kumaresan</a:t>
            </a:r>
            <a:endParaRPr sz="2100" dirty="0">
              <a:latin typeface="Times New Roman" panose="02020603050405020304" pitchFamily="18" charset="0"/>
              <a:cs typeface="Times New Roman" panose="02020603050405020304" pitchFamily="18" charset="0"/>
            </a:endParaRPr>
          </a:p>
          <a:p>
            <a:pPr algn="just">
              <a:lnSpc>
                <a:spcPts val="2866"/>
              </a:lnSpc>
              <a:defRPr sz="2800" b="1">
                <a:latin typeface="Times New Roman" panose="02020603050405020304"/>
                <a:ea typeface="Times New Roman" panose="02020603050405020304"/>
                <a:cs typeface="Times New Roman" panose="02020603050405020304"/>
                <a:sym typeface="Times New Roman" panose="02020603050405020304"/>
              </a:defRPr>
            </a:pPr>
            <a:endParaRPr lang="en-US" sz="2100" dirty="0">
              <a:latin typeface="Times New Roman" panose="02020603050405020304" pitchFamily="18" charset="0"/>
              <a:cs typeface="Times New Roman" panose="02020603050405020304" pitchFamily="18" charset="0"/>
            </a:endParaRPr>
          </a:p>
        </p:txBody>
      </p:sp>
      <p:sp>
        <p:nvSpPr>
          <p:cNvPr id="4" name="Rectangle 3"/>
          <p:cNvSpPr/>
          <p:nvPr/>
        </p:nvSpPr>
        <p:spPr>
          <a:xfrm>
            <a:off x="2523096" y="3244754"/>
            <a:ext cx="8078430" cy="523220"/>
          </a:xfrm>
          <a:prstGeom prst="rect">
            <a:avLst/>
          </a:prstGeom>
        </p:spPr>
        <p:txBody>
          <a:bodyPr wrap="none">
            <a:spAutoFit/>
          </a:bodyPr>
          <a:lstStyle/>
          <a:p>
            <a:r>
              <a:rPr lang="en-IN" sz="2800" b="1" dirty="0" err="1" smtClean="0">
                <a:solidFill>
                  <a:srgbClr val="FF0000"/>
                </a:solidFill>
                <a:latin typeface="Times New Roman" pitchFamily="18" charset="0"/>
                <a:cs typeface="Times New Roman" pitchFamily="18" charset="0"/>
              </a:rPr>
              <a:t>LangCheck</a:t>
            </a:r>
            <a:r>
              <a:rPr lang="en-IN" sz="2800" b="1" dirty="0" smtClean="0">
                <a:solidFill>
                  <a:srgbClr val="FF0000"/>
                </a:solidFill>
                <a:latin typeface="Times New Roman" pitchFamily="18" charset="0"/>
                <a:cs typeface="Times New Roman" pitchFamily="18" charset="0"/>
              </a:rPr>
              <a:t>: Regular Language Verification System</a:t>
            </a:r>
            <a:endParaRPr lang="en-IN" sz="2800" b="1"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55466114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itchFamily="18" charset="0"/>
                <a:cs typeface="Times New Roman" pitchFamily="18" charset="0"/>
              </a:rPr>
              <a:t>Introduction</a:t>
            </a:r>
          </a:p>
        </p:txBody>
      </p:sp>
      <p:sp>
        <p:nvSpPr>
          <p:cNvPr id="3" name="Content Placeholder 2"/>
          <p:cNvSpPr>
            <a:spLocks noGrp="1"/>
          </p:cNvSpPr>
          <p:nvPr>
            <p:ph idx="1"/>
          </p:nvPr>
        </p:nvSpPr>
        <p:spPr>
          <a:xfrm>
            <a:off x="301487" y="1534510"/>
            <a:ext cx="11504069" cy="5129742"/>
          </a:xfrm>
        </p:spPr>
        <p:txBody>
          <a:bodyPr>
            <a:noAutofit/>
          </a:bodyPr>
          <a:lstStyle/>
          <a:p>
            <a:r>
              <a:rPr lang="en-US" sz="2000" b="1" dirty="0">
                <a:latin typeface="Times New Roman" pitchFamily="18" charset="0"/>
                <a:cs typeface="Times New Roman" pitchFamily="18" charset="0"/>
              </a:rPr>
              <a:t>Overview of the Project</a:t>
            </a:r>
          </a:p>
          <a:p>
            <a:pPr marL="0" indent="0">
              <a:buNone/>
            </a:pPr>
            <a:r>
              <a:rPr lang="en-US" sz="2000" dirty="0">
                <a:latin typeface="Times New Roman" pitchFamily="18" charset="0"/>
                <a:cs typeface="Times New Roman" pitchFamily="18" charset="0"/>
              </a:rPr>
              <a:t>This project implements a </a:t>
            </a:r>
            <a:r>
              <a:rPr lang="en-US" sz="2000" b="1" dirty="0">
                <a:latin typeface="Times New Roman" pitchFamily="18" charset="0"/>
                <a:cs typeface="Times New Roman" pitchFamily="18" charset="0"/>
              </a:rPr>
              <a:t>Regular Language Verification System</a:t>
            </a:r>
            <a:r>
              <a:rPr lang="en-US" sz="2000" dirty="0">
                <a:latin typeface="Times New Roman" pitchFamily="18" charset="0"/>
                <a:cs typeface="Times New Roman" pitchFamily="18" charset="0"/>
              </a:rPr>
              <a:t> to analyze and verify regular languages using formal automata concepts. It allows users to create, validate, and test regular expressions and finite automata, perform conversions between NFA and DFA, and verify whether input strings are accepted or rejected. The system provides an interactive interface, stores verification data, and generates reports and analytics for analysis and testing.</a:t>
            </a:r>
          </a:p>
          <a:p>
            <a:r>
              <a:rPr lang="en-US" sz="2000" b="1" dirty="0">
                <a:latin typeface="Times New Roman" pitchFamily="18" charset="0"/>
                <a:cs typeface="Times New Roman" pitchFamily="18" charset="0"/>
              </a:rPr>
              <a:t>Problem Statement</a:t>
            </a:r>
          </a:p>
          <a:p>
            <a:pPr>
              <a:buFont typeface="Wingdings" pitchFamily="2" charset="2"/>
              <a:buChar char="Ø"/>
            </a:pPr>
            <a:r>
              <a:rPr lang="en-US" sz="2000" dirty="0">
                <a:latin typeface="Times New Roman" pitchFamily="18" charset="0"/>
                <a:cs typeface="Times New Roman" pitchFamily="18" charset="0"/>
              </a:rPr>
              <a:t>Regular language verification can involve complex automata </a:t>
            </a:r>
            <a:r>
              <a:rPr lang="en-US" sz="2000" dirty="0" smtClean="0">
                <a:latin typeface="Times New Roman" pitchFamily="18" charset="0"/>
                <a:cs typeface="Times New Roman" pitchFamily="18" charset="0"/>
              </a:rPr>
              <a:t>operations.</a:t>
            </a:r>
          </a:p>
          <a:p>
            <a:pPr>
              <a:buFont typeface="Wingdings" pitchFamily="2" charset="2"/>
              <a:buChar char="Ø"/>
            </a:pPr>
            <a:r>
              <a:rPr lang="en-US" sz="2000" dirty="0" smtClean="0">
                <a:latin typeface="Times New Roman" pitchFamily="18" charset="0"/>
                <a:cs typeface="Times New Roman" pitchFamily="18" charset="0"/>
              </a:rPr>
              <a:t>Manual </a:t>
            </a:r>
            <a:r>
              <a:rPr lang="en-US" sz="2000" dirty="0">
                <a:latin typeface="Times New Roman" pitchFamily="18" charset="0"/>
                <a:cs typeface="Times New Roman" pitchFamily="18" charset="0"/>
              </a:rPr>
              <a:t>conversion between NFA, ε-NFA, and DFA can cause </a:t>
            </a:r>
            <a:r>
              <a:rPr lang="en-US" sz="2000" dirty="0" smtClean="0">
                <a:latin typeface="Times New Roman" pitchFamily="18" charset="0"/>
                <a:cs typeface="Times New Roman" pitchFamily="18" charset="0"/>
              </a:rPr>
              <a:t>errors.</a:t>
            </a:r>
          </a:p>
          <a:p>
            <a:pPr>
              <a:buFont typeface="Wingdings" pitchFamily="2" charset="2"/>
              <a:buChar char="Ø"/>
            </a:pPr>
            <a:r>
              <a:rPr lang="en-US" sz="2000" dirty="0" smtClean="0">
                <a:latin typeface="Times New Roman" pitchFamily="18" charset="0"/>
                <a:cs typeface="Times New Roman" pitchFamily="18" charset="0"/>
              </a:rPr>
              <a:t>Users </a:t>
            </a:r>
            <a:r>
              <a:rPr lang="en-US" sz="2000" dirty="0">
                <a:latin typeface="Times New Roman" pitchFamily="18" charset="0"/>
                <a:cs typeface="Times New Roman" pitchFamily="18" charset="0"/>
              </a:rPr>
              <a:t>may find automata transitions difficult to </a:t>
            </a:r>
            <a:r>
              <a:rPr lang="en-US" sz="2000" dirty="0" smtClean="0">
                <a:latin typeface="Times New Roman" pitchFamily="18" charset="0"/>
                <a:cs typeface="Times New Roman" pitchFamily="18" charset="0"/>
              </a:rPr>
              <a:t>visualize.</a:t>
            </a:r>
          </a:p>
          <a:p>
            <a:pPr>
              <a:buFont typeface="Wingdings" pitchFamily="2" charset="2"/>
              <a:buChar char="Ø"/>
            </a:pPr>
            <a:r>
              <a:rPr lang="en-US" sz="2000" dirty="0" smtClean="0">
                <a:latin typeface="Times New Roman" pitchFamily="18" charset="0"/>
                <a:cs typeface="Times New Roman" pitchFamily="18" charset="0"/>
              </a:rPr>
              <a:t>An </a:t>
            </a:r>
            <a:r>
              <a:rPr lang="en-US" sz="2000" dirty="0">
                <a:latin typeface="Times New Roman" pitchFamily="18" charset="0"/>
                <a:cs typeface="Times New Roman" pitchFamily="18" charset="0"/>
              </a:rPr>
              <a:t>efficient system is needed for automated verification and analysis.</a:t>
            </a:r>
          </a:p>
          <a:p>
            <a:r>
              <a:rPr lang="en-US" sz="2000" b="1" dirty="0">
                <a:latin typeface="Times New Roman" pitchFamily="18" charset="0"/>
                <a:cs typeface="Times New Roman" pitchFamily="18" charset="0"/>
              </a:rPr>
              <a:t>Purpose of the Project</a:t>
            </a:r>
          </a:p>
          <a:p>
            <a:pPr marL="0" indent="0">
              <a:buNone/>
            </a:pPr>
            <a:r>
              <a:rPr lang="en-US" sz="2000" dirty="0">
                <a:latin typeface="Times New Roman" pitchFamily="18" charset="0"/>
                <a:cs typeface="Times New Roman" pitchFamily="18" charset="0"/>
              </a:rPr>
              <a:t>The purpose of the project is to provide a systematic platform for verifying regular languages by analyzing regular expressions, finite automata, and input strings. It aims to automate automata conversions, validate language acceptance, maintain user and verification data, and provide reports and analytics</a:t>
            </a:r>
            <a:r>
              <a:rPr lang="en-US" sz="2000" dirty="0" smtClean="0">
                <a:latin typeface="Times New Roman" pitchFamily="18" charset="0"/>
                <a:cs typeface="Times New Roman" pitchFamily="18" charset="0"/>
              </a:rPr>
              <a:t>.</a:t>
            </a:r>
            <a:endParaRPr lang="en-US" sz="2000" dirty="0">
              <a:latin typeface="Times New Roman" pitchFamily="18" charset="0"/>
              <a:cs typeface="Times New Roman" pitchFamily="18" charset="0"/>
            </a:endParaRPr>
          </a:p>
        </p:txBody>
      </p:sp>
      <p:pic>
        <p:nvPicPr>
          <p:cNvPr id="4" name="Picture 3"/>
          <p:cNvPicPr/>
          <p:nvPr/>
        </p:nvPicPr>
        <p:blipFill>
          <a:blip r:embed="rId2" cstate="print">
            <a:extLst>
              <a:ext uri="{28A0092B-C50C-407E-A947-70E740481C1C}">
                <a14:useLocalDpi xmlns:a14="http://schemas.microsoft.com/office/drawing/2010/main" val="0"/>
              </a:ext>
            </a:extLst>
          </a:blip>
          <a:srcRect/>
          <a:stretch>
            <a:fillRect/>
          </a:stretch>
        </p:blipFill>
        <p:spPr>
          <a:xfrm>
            <a:off x="357352" y="191626"/>
            <a:ext cx="1135117" cy="1342884"/>
          </a:xfrm>
          <a:prstGeom prst="rect">
            <a:avLst/>
          </a:prstGeom>
          <a:noFill/>
        </p:spPr>
      </p:pic>
      <p:pic>
        <p:nvPicPr>
          <p:cNvPr id="5" name="Picture 4"/>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191626"/>
            <a:ext cx="1520114" cy="1342884"/>
          </a:xfrm>
          <a:prstGeom prst="rect">
            <a:avLst/>
          </a:prstGeom>
          <a:noFill/>
          <a:ln>
            <a:noFill/>
          </a:ln>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itchFamily="18" charset="0"/>
                <a:cs typeface="Times New Roman" pitchFamily="18" charset="0"/>
              </a:rPr>
              <a:t>Objectives</a:t>
            </a:r>
          </a:p>
        </p:txBody>
      </p:sp>
      <p:sp>
        <p:nvSpPr>
          <p:cNvPr id="3" name="Content Placeholder 2"/>
          <p:cNvSpPr>
            <a:spLocks noGrp="1"/>
          </p:cNvSpPr>
          <p:nvPr>
            <p:ph idx="1"/>
          </p:nvPr>
        </p:nvSpPr>
        <p:spPr>
          <a:xfrm>
            <a:off x="609600" y="1600201"/>
            <a:ext cx="10972800" cy="5105399"/>
          </a:xfrm>
        </p:spPr>
        <p:txBody>
          <a:bodyPr>
            <a:normAutofit fontScale="85000" lnSpcReduction="20000"/>
          </a:bodyPr>
          <a:lstStyle/>
          <a:p>
            <a:pPr marL="0" indent="0">
              <a:buNone/>
            </a:pPr>
            <a:r>
              <a:rPr lang="en-US" sz="2400" b="1" dirty="0"/>
              <a:t>Define Clear Goals</a:t>
            </a:r>
          </a:p>
          <a:p>
            <a:pPr>
              <a:buFont typeface="Wingdings" pitchFamily="2" charset="2"/>
              <a:buChar char="Ø"/>
            </a:pPr>
            <a:r>
              <a:rPr lang="en-US" sz="2400" dirty="0" smtClean="0"/>
              <a:t> </a:t>
            </a:r>
            <a:r>
              <a:rPr lang="en-US" sz="2400" dirty="0"/>
              <a:t>Verify whether given languages satisfy regular language </a:t>
            </a:r>
            <a:r>
              <a:rPr lang="en-US" sz="2400" dirty="0" smtClean="0"/>
              <a:t>properties.</a:t>
            </a:r>
          </a:p>
          <a:p>
            <a:pPr>
              <a:buFont typeface="Wingdings" pitchFamily="2" charset="2"/>
              <a:buChar char="Ø"/>
            </a:pPr>
            <a:r>
              <a:rPr lang="en-US" sz="2400" dirty="0" smtClean="0"/>
              <a:t>Process </a:t>
            </a:r>
            <a:r>
              <a:rPr lang="en-US" sz="2400" dirty="0"/>
              <a:t>regular expressions and construct equivalent finite </a:t>
            </a:r>
            <a:r>
              <a:rPr lang="en-US" sz="2400" dirty="0" smtClean="0"/>
              <a:t>automata</a:t>
            </a:r>
            <a:endParaRPr lang="en-US" sz="2400" dirty="0"/>
          </a:p>
          <a:p>
            <a:pPr>
              <a:buFont typeface="Wingdings" pitchFamily="2" charset="2"/>
              <a:buChar char="Ø"/>
            </a:pPr>
            <a:r>
              <a:rPr lang="en-US" sz="2400" dirty="0" smtClean="0"/>
              <a:t> </a:t>
            </a:r>
            <a:r>
              <a:rPr lang="en-US" sz="2400" dirty="0"/>
              <a:t>Convert ε-NFA and NFA representations into DFA for verification</a:t>
            </a:r>
            <a:r>
              <a:rPr lang="en-US" sz="2400" dirty="0" smtClean="0"/>
              <a:t>.</a:t>
            </a:r>
          </a:p>
          <a:p>
            <a:pPr>
              <a:buFont typeface="Wingdings" pitchFamily="2" charset="2"/>
              <a:buChar char="Ø"/>
            </a:pPr>
            <a:r>
              <a:rPr lang="en-US" sz="2400" dirty="0" smtClean="0"/>
              <a:t> </a:t>
            </a:r>
            <a:r>
              <a:rPr lang="en-US" sz="2400" dirty="0"/>
              <a:t>Test input strings and generate accurate acceptance or rejection results.</a:t>
            </a:r>
          </a:p>
          <a:p>
            <a:r>
              <a:rPr lang="en-US" sz="2400" b="1" dirty="0"/>
              <a:t>Address the Problem Statement</a:t>
            </a:r>
          </a:p>
          <a:p>
            <a:pPr marL="0" indent="0">
              <a:buNone/>
            </a:pPr>
            <a:r>
              <a:rPr lang="en-US" sz="2400" dirty="0"/>
              <a:t>Regular language verification often involves complex operations such as automata construction, ε-closure computation, NFA-to-DFA conversion, and string validation. Performing these operations manually can be time-consuming and may result in errors. This project addresses these issues by providing a structured system to automate regular language verification, visualize automata, manage verification data, and simplify the analysis of formal language concepts.</a:t>
            </a:r>
          </a:p>
          <a:p>
            <a:pPr marL="0" indent="0">
              <a:buNone/>
            </a:pPr>
            <a:r>
              <a:rPr lang="en-US" sz="2400" b="1" dirty="0"/>
              <a:t>Expected Outcomes</a:t>
            </a:r>
          </a:p>
          <a:p>
            <a:pPr marL="0" indent="0">
              <a:buNone/>
            </a:pPr>
            <a:r>
              <a:rPr lang="en-US" sz="2400" dirty="0"/>
              <a:t>• Successful verification of regular languages and finite automata.</a:t>
            </a:r>
            <a:br>
              <a:rPr lang="en-US" sz="2400" dirty="0"/>
            </a:br>
            <a:r>
              <a:rPr lang="en-US" sz="2400" dirty="0"/>
              <a:t>• Accurate conversion between ε-NFA, NFA, and DFA representations.</a:t>
            </a:r>
            <a:br>
              <a:rPr lang="en-US" sz="2400" dirty="0"/>
            </a:br>
            <a:r>
              <a:rPr lang="en-US" sz="2400" dirty="0"/>
              <a:t>• Correct identification of accepted and rejected input strings.</a:t>
            </a:r>
            <a:br>
              <a:rPr lang="en-US" sz="2400" dirty="0"/>
            </a:br>
            <a:r>
              <a:rPr lang="en-US" sz="2400" dirty="0"/>
              <a:t>• Detailed verification reports with testing and analytical results.</a:t>
            </a:r>
            <a:br>
              <a:rPr lang="en-US" sz="2400" dirty="0"/>
            </a:br>
            <a:r>
              <a:rPr lang="en-US" sz="2400" dirty="0"/>
              <a:t>• Improved understanding of regular languages and automata theory.</a:t>
            </a:r>
          </a:p>
        </p:txBody>
      </p:sp>
      <p:pic>
        <p:nvPicPr>
          <p:cNvPr id="4" name="Picture 3"/>
          <p:cNvPicPr/>
          <p:nvPr/>
        </p:nvPicPr>
        <p:blipFill>
          <a:blip r:embed="rId2" cstate="print">
            <a:extLst>
              <a:ext uri="{28A0092B-C50C-407E-A947-70E740481C1C}">
                <a14:useLocalDpi xmlns:a14="http://schemas.microsoft.com/office/drawing/2010/main" val="0"/>
              </a:ext>
            </a:extLst>
          </a:blip>
          <a:srcRect/>
          <a:stretch>
            <a:fillRect/>
          </a:stretch>
        </p:blipFill>
        <p:spPr>
          <a:xfrm>
            <a:off x="357352" y="191626"/>
            <a:ext cx="1135117" cy="1342884"/>
          </a:xfrm>
          <a:prstGeom prst="rect">
            <a:avLst/>
          </a:prstGeom>
          <a:noFill/>
        </p:spPr>
      </p:pic>
      <p:pic>
        <p:nvPicPr>
          <p:cNvPr id="5" name="Picture 4"/>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191626"/>
            <a:ext cx="1520114" cy="1342884"/>
          </a:xfrm>
          <a:prstGeom prst="rect">
            <a:avLst/>
          </a:prstGeom>
          <a:noFill/>
          <a:ln>
            <a:noFill/>
          </a:ln>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itchFamily="18" charset="0"/>
                <a:cs typeface="Times New Roman" pitchFamily="18" charset="0"/>
              </a:rPr>
              <a:t>Literature Review / Background</a:t>
            </a:r>
          </a:p>
        </p:txBody>
      </p:sp>
      <p:pic>
        <p:nvPicPr>
          <p:cNvPr id="4" name="Picture 3"/>
          <p:cNvPicPr/>
          <p:nvPr/>
        </p:nvPicPr>
        <p:blipFill>
          <a:blip r:embed="rId2" cstate="print">
            <a:extLst>
              <a:ext uri="{28A0092B-C50C-407E-A947-70E740481C1C}">
                <a14:useLocalDpi xmlns:a14="http://schemas.microsoft.com/office/drawing/2010/main" val="0"/>
              </a:ext>
            </a:extLst>
          </a:blip>
          <a:srcRect/>
          <a:stretch>
            <a:fillRect/>
          </a:stretch>
        </p:blipFill>
        <p:spPr>
          <a:xfrm>
            <a:off x="357352" y="191626"/>
            <a:ext cx="1135117" cy="1342884"/>
          </a:xfrm>
          <a:prstGeom prst="rect">
            <a:avLst/>
          </a:prstGeom>
          <a:noFill/>
        </p:spPr>
      </p:pic>
      <p:pic>
        <p:nvPicPr>
          <p:cNvPr id="5" name="Picture 4"/>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191626"/>
            <a:ext cx="1520114" cy="1342884"/>
          </a:xfrm>
          <a:prstGeom prst="rect">
            <a:avLst/>
          </a:prstGeom>
          <a:noFill/>
          <a:ln>
            <a:noFill/>
          </a:ln>
        </p:spPr>
      </p:pic>
      <p:graphicFrame>
        <p:nvGraphicFramePr>
          <p:cNvPr id="8" name="Table 7"/>
          <p:cNvGraphicFramePr>
            <a:graphicFrameLocks noGrp="1"/>
          </p:cNvGraphicFramePr>
          <p:nvPr>
            <p:extLst>
              <p:ext uri="{D42A27DB-BD31-4B8C-83A1-F6EECF244321}">
                <p14:modId xmlns:p14="http://schemas.microsoft.com/office/powerpoint/2010/main" val="3499851665"/>
              </p:ext>
            </p:extLst>
          </p:nvPr>
        </p:nvGraphicFramePr>
        <p:xfrm>
          <a:off x="157163" y="1555662"/>
          <a:ext cx="11901494" cy="6040133"/>
        </p:xfrm>
        <a:graphic>
          <a:graphicData uri="http://schemas.openxmlformats.org/drawingml/2006/table">
            <a:tbl>
              <a:tblPr/>
              <a:tblGrid>
                <a:gridCol w="501743"/>
                <a:gridCol w="2259106"/>
                <a:gridCol w="2070847"/>
                <a:gridCol w="4087906"/>
                <a:gridCol w="2981892"/>
              </a:tblGrid>
              <a:tr h="587463">
                <a:tc>
                  <a:txBody>
                    <a:bodyPr/>
                    <a:lstStyle/>
                    <a:p>
                      <a:r>
                        <a:rPr lang="en-IN" sz="1600" b="1" dirty="0"/>
                        <a:t>S. No</a:t>
                      </a:r>
                      <a:endParaRPr lang="en-IN" sz="1600"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IN" sz="1600" b="1"/>
                        <a:t>Author(s), Year &amp; Journal</a:t>
                      </a:r>
                      <a:endParaRPr lang="en-IN" sz="160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IN" sz="1600" b="1"/>
                        <a:t>Title</a:t>
                      </a:r>
                      <a:endParaRPr lang="en-IN" sz="160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IN" sz="1600" b="1"/>
                        <a:t>Methodology</a:t>
                      </a:r>
                      <a:endParaRPr lang="en-IN" sz="160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IN" sz="1600" b="1"/>
                        <a:t>Limitations</a:t>
                      </a:r>
                      <a:endParaRPr lang="en-IN" sz="160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r h="1124510">
                <a:tc>
                  <a:txBody>
                    <a:bodyPr/>
                    <a:lstStyle/>
                    <a:p>
                      <a:r>
                        <a:rPr lang="en-IN" sz="1600" b="1"/>
                        <a:t>1</a:t>
                      </a:r>
                      <a:endParaRPr lang="en-IN" sz="160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sz="1600" b="1" dirty="0"/>
                        <a:t>Rabin, M.O. &amp; Scott, D. (1959), IBM Journal of Research and Development</a:t>
                      </a:r>
                      <a:endParaRPr lang="en-US" sz="1600"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sz="1600" b="1" dirty="0"/>
                        <a:t>Finite Automata and Their Decision Problems</a:t>
                      </a:r>
                      <a:endParaRPr lang="en-US" sz="1600"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sz="1400" dirty="0"/>
                        <a:t>Studied finite automata as language-recognition mechanisms and established algorithms for several automata decision problems.</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sz="1400"/>
                        <a:t>Primarily theoretical and does not provide an interactive verification system. (</a:t>
                      </a:r>
                      <a:r>
                        <a:rPr lang="en-US" sz="1400">
                          <a:hlinkClick r:id="rId4" tooltip="Finite Automata and Their Decision Problems"/>
                        </a:rPr>
                        <a:t>DOI</a:t>
                      </a:r>
                      <a:r>
                        <a:rPr lang="en-US" sz="1400"/>
                        <a:t>)</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r h="842963">
                <a:tc>
                  <a:txBody>
                    <a:bodyPr/>
                    <a:lstStyle/>
                    <a:p>
                      <a:r>
                        <a:rPr lang="en-IN" sz="1600" b="1"/>
                        <a:t>2</a:t>
                      </a:r>
                      <a:endParaRPr lang="en-IN" sz="160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sz="1600" b="1"/>
                        <a:t>Brzozowski, J.A. (1964), Journal of the ACM</a:t>
                      </a:r>
                      <a:endParaRPr lang="en-US" sz="160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IN" sz="1600" b="1"/>
                        <a:t>Derivatives of Regular Expressions</a:t>
                      </a:r>
                      <a:endParaRPr lang="en-IN" sz="160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sz="1400" dirty="0"/>
                        <a:t>Introduced derivatives of regular expressions and used them as an algebraic basis for analyzing regular languages and constructing deterministic automata.</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sz="1400" dirty="0"/>
                        <a:t>The derivative approach can produce many distinct expressions/states for complex regular expressions. (</a:t>
                      </a:r>
                      <a:r>
                        <a:rPr lang="en-US" sz="1400" dirty="0">
                          <a:hlinkClick r:id="rId5" tooltip="J. ACM 11(4): 481-494(1964)"/>
                        </a:rPr>
                        <a:t>SIGMOD</a:t>
                      </a:r>
                      <a:r>
                        <a:rPr lang="en-US" sz="1400" dirty="0"/>
                        <a:t>)</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r h="896471">
                <a:tc>
                  <a:txBody>
                    <a:bodyPr/>
                    <a:lstStyle/>
                    <a:p>
                      <a:r>
                        <a:rPr lang="en-IN" sz="1600" b="1"/>
                        <a:t>3</a:t>
                      </a:r>
                      <a:endParaRPr lang="en-IN" sz="160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sz="1600" b="1"/>
                        <a:t>Thompson, K. (1968), Communications of the ACM</a:t>
                      </a:r>
                      <a:endParaRPr lang="en-US" sz="160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sz="1600" b="1" dirty="0"/>
                        <a:t>Programming Techniques: Regular Expression Search Algorithm</a:t>
                      </a:r>
                      <a:endParaRPr lang="en-US" sz="1600"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sz="1400"/>
                        <a:t>Presented an algorithm for regular-expression searching based on finite-state representations, providing an important practical approach to regex processing.</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sz="1400" dirty="0"/>
                        <a:t>Focuses primarily on regular-expression searching rather than a complete regular-language verification workflow. (</a:t>
                      </a:r>
                      <a:r>
                        <a:rPr lang="en-US" sz="1400" dirty="0">
                          <a:hlinkClick r:id="rId6" tooltip="Bibliography"/>
                        </a:rPr>
                        <a:t>Danish Websites</a:t>
                      </a:r>
                      <a:r>
                        <a:rPr lang="en-US" sz="1400" dirty="0"/>
                        <a:t>)</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r h="843072">
                <a:tc>
                  <a:txBody>
                    <a:bodyPr/>
                    <a:lstStyle/>
                    <a:p>
                      <a:r>
                        <a:rPr lang="en-IN" sz="1600" b="1"/>
                        <a:t>4</a:t>
                      </a:r>
                      <a:endParaRPr lang="en-IN" sz="160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sz="1600" b="1"/>
                        <a:t>Hopcroft, J.E. (1971), Theory of Machines and Computations</a:t>
                      </a:r>
                      <a:endParaRPr lang="en-US" sz="160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IN" sz="1600" b="1"/>
                        <a:t>An n log n Algorithm for Minimizing States in a Finite Automaton</a:t>
                      </a:r>
                      <a:endParaRPr lang="en-IN" sz="160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sz="1400"/>
                        <a:t>Proposed an efficient state-minimization algorithm with worst-case complexity bounded by </a:t>
                      </a:r>
                      <a:r>
                        <a:rPr lang="en-US" sz="1400" b="1"/>
                        <a:t>n log n</a:t>
                      </a:r>
                      <a:r>
                        <a:rPr lang="en-US" sz="1400"/>
                        <a:t>, also applicable to determining equivalence of finite automata.</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sz="1400" dirty="0"/>
                        <a:t>Specifically focuses on finite-automaton minimization and equivalence rather than the complete language-verification process. (</a:t>
                      </a:r>
                      <a:r>
                        <a:rPr lang="en-US" sz="1400" dirty="0" err="1">
                          <a:hlinkClick r:id="rId7" tooltip="AN n log n ALGORITHM FOR MINIMIZING STATES IN A FINITE AUTOMATON - ScienceDirect"/>
                        </a:rPr>
                        <a:t>ScienceDirect</a:t>
                      </a:r>
                      <a:r>
                        <a:rPr lang="en-US" sz="1400" dirty="0"/>
                        <a:t>)</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r h="709955">
                <a:tc>
                  <a:txBody>
                    <a:bodyPr/>
                    <a:lstStyle/>
                    <a:p>
                      <a:r>
                        <a:rPr lang="en-IN" sz="1600" b="1"/>
                        <a:t>5</a:t>
                      </a:r>
                      <a:endParaRPr lang="en-IN" sz="160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IN" sz="1600" b="1"/>
                        <a:t>Antimirov, V.M. (1996), Theoretical Computer Science</a:t>
                      </a:r>
                      <a:endParaRPr lang="en-IN" sz="160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sz="1600" b="1"/>
                        <a:t>Partial Derivatives of Regular Expressions and Finite Automaton Constructions</a:t>
                      </a:r>
                      <a:endParaRPr lang="en-US" sz="160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sz="1400" dirty="0"/>
                        <a:t>Introduced partial derivatives of regular expressions and applied them to construct relatively small NFAs, with improvements to automata construction from regular expressions.</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sz="1400" dirty="0"/>
                        <a:t>Primarily addresses derivative-based automata construction and does not cover a complete user-oriented verification and reporting system. (</a:t>
                      </a:r>
                      <a:r>
                        <a:rPr lang="en-US" sz="1400" dirty="0" err="1">
                          <a:hlinkClick r:id="rId8" tooltip="Partial derivatives of regular expressions and finite automaton constructions - ScienceDirect"/>
                        </a:rPr>
                        <a:t>ScienceDirect</a:t>
                      </a:r>
                      <a:r>
                        <a:rPr lang="en-US" sz="1400" dirty="0"/>
                        <a:t>)</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itchFamily="18" charset="0"/>
                <a:cs typeface="Times New Roman" pitchFamily="18" charset="0"/>
              </a:rPr>
              <a:t>Methodology</a:t>
            </a:r>
          </a:p>
        </p:txBody>
      </p:sp>
      <p:sp>
        <p:nvSpPr>
          <p:cNvPr id="3" name="Content Placeholder 2"/>
          <p:cNvSpPr>
            <a:spLocks noGrp="1"/>
          </p:cNvSpPr>
          <p:nvPr>
            <p:ph idx="1"/>
          </p:nvPr>
        </p:nvSpPr>
        <p:spPr>
          <a:xfrm>
            <a:off x="609600" y="1600201"/>
            <a:ext cx="5532120" cy="3307079"/>
          </a:xfrm>
        </p:spPr>
        <p:txBody>
          <a:bodyPr/>
          <a:lstStyle/>
          <a:p>
            <a:r>
              <a:rPr dirty="0" smtClean="0">
                <a:latin typeface="Times New Roman" pitchFamily="18" charset="0"/>
                <a:cs typeface="Times New Roman" pitchFamily="18" charset="0"/>
              </a:rPr>
              <a:t> </a:t>
            </a:r>
            <a:r>
              <a:rPr dirty="0">
                <a:latin typeface="Times New Roman" pitchFamily="18" charset="0"/>
                <a:cs typeface="Times New Roman" pitchFamily="18" charset="0"/>
              </a:rPr>
              <a:t>Tools &amp; frameworks </a:t>
            </a:r>
            <a:r>
              <a:rPr dirty="0" smtClean="0">
                <a:latin typeface="Times New Roman" pitchFamily="18" charset="0"/>
                <a:cs typeface="Times New Roman" pitchFamily="18" charset="0"/>
              </a:rPr>
              <a:t>used</a:t>
            </a:r>
            <a:endParaRPr lang="en-US" dirty="0" smtClean="0">
              <a:latin typeface="Times New Roman" pitchFamily="18" charset="0"/>
              <a:cs typeface="Times New Roman" pitchFamily="18" charset="0"/>
            </a:endParaRPr>
          </a:p>
          <a:p>
            <a:endParaRPr dirty="0"/>
          </a:p>
          <a:p>
            <a:pPr marL="0" indent="0">
              <a:buNone/>
            </a:pPr>
            <a:endParaRPr dirty="0"/>
          </a:p>
        </p:txBody>
      </p:sp>
      <p:pic>
        <p:nvPicPr>
          <p:cNvPr id="4" name="Picture 3"/>
          <p:cNvPicPr/>
          <p:nvPr/>
        </p:nvPicPr>
        <p:blipFill>
          <a:blip r:embed="rId2" cstate="print">
            <a:extLst>
              <a:ext uri="{28A0092B-C50C-407E-A947-70E740481C1C}">
                <a14:useLocalDpi xmlns:a14="http://schemas.microsoft.com/office/drawing/2010/main" val="0"/>
              </a:ext>
            </a:extLst>
          </a:blip>
          <a:srcRect/>
          <a:stretch>
            <a:fillRect/>
          </a:stretch>
        </p:blipFill>
        <p:spPr>
          <a:xfrm>
            <a:off x="357352" y="191626"/>
            <a:ext cx="1135117" cy="1342884"/>
          </a:xfrm>
          <a:prstGeom prst="rect">
            <a:avLst/>
          </a:prstGeom>
          <a:noFill/>
        </p:spPr>
      </p:pic>
      <p:pic>
        <p:nvPicPr>
          <p:cNvPr id="5" name="Picture 4"/>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191626"/>
            <a:ext cx="1520114" cy="1342884"/>
          </a:xfrm>
          <a:prstGeom prst="rect">
            <a:avLst/>
          </a:prstGeom>
          <a:noFill/>
          <a:ln>
            <a:noFill/>
          </a:ln>
        </p:spPr>
      </p:pic>
      <p:graphicFrame>
        <p:nvGraphicFramePr>
          <p:cNvPr id="6" name="Table 5"/>
          <p:cNvGraphicFramePr>
            <a:graphicFrameLocks noGrp="1"/>
          </p:cNvGraphicFramePr>
          <p:nvPr>
            <p:extLst>
              <p:ext uri="{D42A27DB-BD31-4B8C-83A1-F6EECF244321}">
                <p14:modId xmlns:p14="http://schemas.microsoft.com/office/powerpoint/2010/main" val="1708383952"/>
              </p:ext>
            </p:extLst>
          </p:nvPr>
        </p:nvGraphicFramePr>
        <p:xfrm>
          <a:off x="609600" y="2217262"/>
          <a:ext cx="5257800" cy="2468880"/>
        </p:xfrm>
        <a:graphic>
          <a:graphicData uri="http://schemas.openxmlformats.org/drawingml/2006/table">
            <a:tbl>
              <a:tblPr/>
              <a:tblGrid>
                <a:gridCol w="1920240"/>
                <a:gridCol w="3337560"/>
              </a:tblGrid>
              <a:tr h="0">
                <a:tc>
                  <a:txBody>
                    <a:bodyPr/>
                    <a:lstStyle/>
                    <a:p>
                      <a:r>
                        <a:rPr lang="en-IN" b="1" dirty="0">
                          <a:latin typeface="Times New Roman" pitchFamily="18" charset="0"/>
                          <a:cs typeface="Times New Roman" pitchFamily="18" charset="0"/>
                        </a:rPr>
                        <a:t>Tool/Framework</a:t>
                      </a:r>
                      <a:endParaRPr lang="en-IN" dirty="0">
                        <a:latin typeface="Times New Roman" pitchFamily="18" charset="0"/>
                        <a:cs typeface="Times New Roman"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IN" b="1">
                          <a:latin typeface="Times New Roman" pitchFamily="18" charset="0"/>
                          <a:cs typeface="Times New Roman" pitchFamily="18" charset="0"/>
                        </a:rPr>
                        <a:t>Purpose</a:t>
                      </a:r>
                      <a:endParaRPr lang="en-IN">
                        <a:latin typeface="Times New Roman" pitchFamily="18" charset="0"/>
                        <a:cs typeface="Times New Roman"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r h="0">
                <a:tc>
                  <a:txBody>
                    <a:bodyPr/>
                    <a:lstStyle/>
                    <a:p>
                      <a:r>
                        <a:rPr lang="en-IN" b="1">
                          <a:latin typeface="Times New Roman" pitchFamily="18" charset="0"/>
                          <a:cs typeface="Times New Roman" pitchFamily="18" charset="0"/>
                        </a:rPr>
                        <a:t>Nmap</a:t>
                      </a:r>
                      <a:endParaRPr lang="en-IN">
                        <a:latin typeface="Times New Roman" pitchFamily="18" charset="0"/>
                        <a:cs typeface="Times New Roman"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IN" dirty="0">
                          <a:latin typeface="Times New Roman" pitchFamily="18" charset="0"/>
                          <a:cs typeface="Times New Roman" pitchFamily="18" charset="0"/>
                        </a:rPr>
                        <a:t>Network and service scanning</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r h="0">
                <a:tc>
                  <a:txBody>
                    <a:bodyPr/>
                    <a:lstStyle/>
                    <a:p>
                      <a:r>
                        <a:rPr lang="en-IN" b="1">
                          <a:latin typeface="Times New Roman" pitchFamily="18" charset="0"/>
                          <a:cs typeface="Times New Roman" pitchFamily="18" charset="0"/>
                        </a:rPr>
                        <a:t>Enum4linux</a:t>
                      </a:r>
                      <a:endParaRPr lang="en-IN">
                        <a:latin typeface="Times New Roman" pitchFamily="18" charset="0"/>
                        <a:cs typeface="Times New Roman"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IN" dirty="0">
                          <a:latin typeface="Times New Roman" pitchFamily="18" charset="0"/>
                          <a:cs typeface="Times New Roman" pitchFamily="18" charset="0"/>
                        </a:rPr>
                        <a:t>SMB and share enumeration</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r h="0">
                <a:tc>
                  <a:txBody>
                    <a:bodyPr/>
                    <a:lstStyle/>
                    <a:p>
                      <a:r>
                        <a:rPr lang="en-IN" b="1">
                          <a:latin typeface="Times New Roman" pitchFamily="18" charset="0"/>
                          <a:cs typeface="Times New Roman" pitchFamily="18" charset="0"/>
                        </a:rPr>
                        <a:t>RPCDump</a:t>
                      </a:r>
                      <a:endParaRPr lang="en-IN">
                        <a:latin typeface="Times New Roman" pitchFamily="18" charset="0"/>
                        <a:cs typeface="Times New Roman"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IN">
                          <a:latin typeface="Times New Roman" pitchFamily="18" charset="0"/>
                          <a:cs typeface="Times New Roman" pitchFamily="18" charset="0"/>
                        </a:rPr>
                        <a:t>RPC endpoint enumeration</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r h="0">
                <a:tc>
                  <a:txBody>
                    <a:bodyPr/>
                    <a:lstStyle/>
                    <a:p>
                      <a:r>
                        <a:rPr lang="en-IN" b="1">
                          <a:latin typeface="Times New Roman" pitchFamily="18" charset="0"/>
                          <a:cs typeface="Times New Roman" pitchFamily="18" charset="0"/>
                        </a:rPr>
                        <a:t>Metasploit</a:t>
                      </a:r>
                      <a:endParaRPr lang="en-IN">
                        <a:latin typeface="Times New Roman" pitchFamily="18" charset="0"/>
                        <a:cs typeface="Times New Roman"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IN" dirty="0">
                          <a:latin typeface="Times New Roman" pitchFamily="18" charset="0"/>
                          <a:cs typeface="Times New Roman" pitchFamily="18" charset="0"/>
                        </a:rPr>
                        <a:t>Vulnerability validation and exploitation</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r h="0">
                <a:tc>
                  <a:txBody>
                    <a:bodyPr/>
                    <a:lstStyle/>
                    <a:p>
                      <a:r>
                        <a:rPr lang="en-IN" b="1" dirty="0">
                          <a:latin typeface="Times New Roman" pitchFamily="18" charset="0"/>
                          <a:cs typeface="Times New Roman" pitchFamily="18" charset="0"/>
                        </a:rPr>
                        <a:t>Windows OS</a:t>
                      </a:r>
                      <a:endParaRPr lang="en-IN" dirty="0">
                        <a:latin typeface="Times New Roman" pitchFamily="18" charset="0"/>
                        <a:cs typeface="Times New Roman"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IN" dirty="0">
                          <a:latin typeface="Times New Roman" pitchFamily="18" charset="0"/>
                          <a:cs typeface="Times New Roman" pitchFamily="18" charset="0"/>
                        </a:rPr>
                        <a:t>Target environment for testing</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bl>
          </a:graphicData>
        </a:graphic>
      </p:graphicFrame>
      <p:sp>
        <p:nvSpPr>
          <p:cNvPr id="7" name="TextBox 6"/>
          <p:cNvSpPr txBox="1"/>
          <p:nvPr/>
        </p:nvSpPr>
        <p:spPr>
          <a:xfrm>
            <a:off x="551952" y="4907280"/>
            <a:ext cx="11030448" cy="2031325"/>
          </a:xfrm>
          <a:prstGeom prst="rect">
            <a:avLst/>
          </a:prstGeom>
          <a:noFill/>
        </p:spPr>
        <p:txBody>
          <a:bodyPr wrap="square" rtlCol="0">
            <a:spAutoFit/>
          </a:bodyPr>
          <a:lstStyle/>
          <a:p>
            <a:r>
              <a:rPr lang="en-US" sz="2800" b="1" dirty="0" smtClean="0">
                <a:latin typeface="Times New Roman" pitchFamily="18" charset="0"/>
                <a:cs typeface="Times New Roman" pitchFamily="18" charset="0"/>
              </a:rPr>
              <a:t>Development Approach</a:t>
            </a:r>
          </a:p>
          <a:p>
            <a:pPr algn="just"/>
            <a:r>
              <a:rPr lang="en-US" sz="2000" dirty="0" smtClean="0">
                <a:latin typeface="Times New Roman" pitchFamily="18" charset="0"/>
                <a:cs typeface="Times New Roman" pitchFamily="18" charset="0"/>
              </a:rPr>
              <a:t>The project follows a </a:t>
            </a:r>
            <a:r>
              <a:rPr lang="en-US" sz="2000" b="1" dirty="0" smtClean="0">
                <a:latin typeface="Times New Roman" pitchFamily="18" charset="0"/>
                <a:cs typeface="Times New Roman" pitchFamily="18" charset="0"/>
              </a:rPr>
              <a:t>penetration testing and vulnerability assessment approach</a:t>
            </a:r>
            <a:r>
              <a:rPr lang="en-US" sz="2000" dirty="0" smtClean="0">
                <a:latin typeface="Times New Roman" pitchFamily="18" charset="0"/>
                <a:cs typeface="Times New Roman" pitchFamily="18" charset="0"/>
              </a:rPr>
              <a:t>. Information is gathered from Windows systems, SMB shares and RPC services are enumerated, vulnerabilities are identified, and privilege escalation paths are analyzed in a controlled lab environment. The findings are then documented with security recommendations.</a:t>
            </a:r>
          </a:p>
          <a:p>
            <a:endParaRPr lang="en-IN" dirty="0"/>
          </a:p>
        </p:txBody>
      </p:sp>
      <p:sp>
        <p:nvSpPr>
          <p:cNvPr id="8" name="TextBox 7"/>
          <p:cNvSpPr txBox="1"/>
          <p:nvPr/>
        </p:nvSpPr>
        <p:spPr>
          <a:xfrm>
            <a:off x="6141720" y="2100819"/>
            <a:ext cx="5406888" cy="2708434"/>
          </a:xfrm>
          <a:prstGeom prst="rect">
            <a:avLst/>
          </a:prstGeom>
          <a:noFill/>
        </p:spPr>
        <p:txBody>
          <a:bodyPr wrap="square" rtlCol="0">
            <a:spAutoFit/>
          </a:bodyPr>
          <a:lstStyle/>
          <a:p>
            <a:r>
              <a:rPr lang="en-US" sz="2800" b="1" dirty="0" smtClean="0">
                <a:latin typeface="Times New Roman" pitchFamily="18" charset="0"/>
                <a:cs typeface="Times New Roman" pitchFamily="18" charset="0"/>
              </a:rPr>
              <a:t>Data Collection </a:t>
            </a:r>
          </a:p>
          <a:p>
            <a:pPr marL="342900" indent="-342900">
              <a:buFont typeface="Wingdings" pitchFamily="2" charset="2"/>
              <a:buChar char="Ø"/>
            </a:pPr>
            <a:r>
              <a:rPr lang="en-US" sz="2400" dirty="0" smtClean="0">
                <a:latin typeface="Times New Roman" pitchFamily="18" charset="0"/>
                <a:cs typeface="Times New Roman" pitchFamily="18" charset="0"/>
              </a:rPr>
              <a:t>Windows system information </a:t>
            </a:r>
          </a:p>
          <a:p>
            <a:pPr marL="342900" indent="-342900">
              <a:buFont typeface="Wingdings" pitchFamily="2" charset="2"/>
              <a:buChar char="Ø"/>
            </a:pPr>
            <a:r>
              <a:rPr lang="en-US" sz="2400" dirty="0" smtClean="0">
                <a:latin typeface="Times New Roman" pitchFamily="18" charset="0"/>
                <a:cs typeface="Times New Roman" pitchFamily="18" charset="0"/>
              </a:rPr>
              <a:t>RPC endpoints and services </a:t>
            </a:r>
          </a:p>
          <a:p>
            <a:pPr marL="342900" indent="-342900">
              <a:buFont typeface="Wingdings" pitchFamily="2" charset="2"/>
              <a:buChar char="Ø"/>
            </a:pPr>
            <a:r>
              <a:rPr lang="en-US" sz="2400" dirty="0" smtClean="0">
                <a:latin typeface="Times New Roman" pitchFamily="18" charset="0"/>
                <a:cs typeface="Times New Roman" pitchFamily="18" charset="0"/>
              </a:rPr>
              <a:t>SMB shares and permissions </a:t>
            </a:r>
          </a:p>
          <a:p>
            <a:pPr marL="342900" indent="-342900">
              <a:buFont typeface="Wingdings" pitchFamily="2" charset="2"/>
              <a:buChar char="Ø"/>
            </a:pPr>
            <a:r>
              <a:rPr lang="en-US" sz="2400" dirty="0" smtClean="0">
                <a:latin typeface="Times New Roman" pitchFamily="18" charset="0"/>
                <a:cs typeface="Times New Roman" pitchFamily="18" charset="0"/>
              </a:rPr>
              <a:t>Null session accessibility </a:t>
            </a:r>
          </a:p>
          <a:p>
            <a:pPr marL="342900" indent="-342900">
              <a:buFont typeface="Wingdings" pitchFamily="2" charset="2"/>
              <a:buChar char="Ø"/>
            </a:pPr>
            <a:r>
              <a:rPr lang="en-US" sz="2400" dirty="0" smtClean="0">
                <a:latin typeface="Times New Roman" pitchFamily="18" charset="0"/>
                <a:cs typeface="Times New Roman" pitchFamily="18" charset="0"/>
              </a:rPr>
              <a:t>Vulnerability and CVE details</a:t>
            </a:r>
          </a:p>
          <a:p>
            <a:endParaRPr lang="en-IN" dirty="0"/>
          </a:p>
        </p:txBody>
      </p:sp>
      <p:sp>
        <p:nvSpPr>
          <p:cNvPr id="9" name="AutoShape 2" descr="Generated image: LangCheck Methodology Flowchar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4" descr="Generated image: LangCheck Methodology Flowchart"/>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1" name="AutoShape 6" descr="Generated image: LangCheck Methodology Flowchart"/>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AutoShape 8" descr="Generated image: LangCheck Methodology Flowchart"/>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3" name="Picture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5575" y="1534510"/>
            <a:ext cx="11878770" cy="5145690"/>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itchFamily="18" charset="0"/>
                <a:cs typeface="Times New Roman" pitchFamily="18" charset="0"/>
              </a:rPr>
              <a:t>System Design / Architecture</a:t>
            </a:r>
          </a:p>
        </p:txBody>
      </p:sp>
      <p:pic>
        <p:nvPicPr>
          <p:cNvPr id="4" name="Picture 3"/>
          <p:cNvPicPr/>
          <p:nvPr/>
        </p:nvPicPr>
        <p:blipFill>
          <a:blip r:embed="rId2" cstate="print">
            <a:extLst>
              <a:ext uri="{28A0092B-C50C-407E-A947-70E740481C1C}">
                <a14:useLocalDpi xmlns:a14="http://schemas.microsoft.com/office/drawing/2010/main" val="0"/>
              </a:ext>
            </a:extLst>
          </a:blip>
          <a:srcRect/>
          <a:stretch>
            <a:fillRect/>
          </a:stretch>
        </p:blipFill>
        <p:spPr>
          <a:xfrm>
            <a:off x="357352" y="191626"/>
            <a:ext cx="1135117" cy="1342884"/>
          </a:xfrm>
          <a:prstGeom prst="rect">
            <a:avLst/>
          </a:prstGeom>
          <a:noFill/>
        </p:spPr>
      </p:pic>
      <p:pic>
        <p:nvPicPr>
          <p:cNvPr id="5" name="Picture 4"/>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191626"/>
            <a:ext cx="1520114" cy="1342884"/>
          </a:xfrm>
          <a:prstGeom prst="rect">
            <a:avLst/>
          </a:prstGeom>
          <a:noFill/>
          <a:ln>
            <a:noFill/>
          </a:ln>
        </p:spPr>
      </p:pic>
      <p:pic>
        <p:nvPicPr>
          <p:cNvPr id="7" name="Content Placeholder 6"/>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460375" y="1600200"/>
            <a:ext cx="11122025" cy="4988859"/>
          </a:xfrm>
        </p:spPr>
      </p:pic>
      <p:sp>
        <p:nvSpPr>
          <p:cNvPr id="6" name="AutoShape 2" descr="Generated image: LangCheck System Architecture Infographic"/>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latin typeface="Times New Roman" pitchFamily="18" charset="0"/>
                <a:cs typeface="Times New Roman" pitchFamily="18" charset="0"/>
              </a:rPr>
              <a:t>User Management &amp; Interface</a:t>
            </a:r>
            <a:endParaRPr sz="3200" b="1" dirty="0">
              <a:latin typeface="Times New Roman" pitchFamily="18" charset="0"/>
              <a:cs typeface="Times New Roman" pitchFamily="18" charset="0"/>
            </a:endParaRPr>
          </a:p>
        </p:txBody>
      </p:sp>
      <p:pic>
        <p:nvPicPr>
          <p:cNvPr id="4" name="Picture 3"/>
          <p:cNvPicPr/>
          <p:nvPr/>
        </p:nvPicPr>
        <p:blipFill>
          <a:blip r:embed="rId2" cstate="print">
            <a:extLst>
              <a:ext uri="{28A0092B-C50C-407E-A947-70E740481C1C}">
                <a14:useLocalDpi xmlns:a14="http://schemas.microsoft.com/office/drawing/2010/main" val="0"/>
              </a:ext>
            </a:extLst>
          </a:blip>
          <a:srcRect/>
          <a:stretch>
            <a:fillRect/>
          </a:stretch>
        </p:blipFill>
        <p:spPr>
          <a:xfrm>
            <a:off x="357352" y="191626"/>
            <a:ext cx="1135117" cy="1342884"/>
          </a:xfrm>
          <a:prstGeom prst="rect">
            <a:avLst/>
          </a:prstGeom>
          <a:noFill/>
        </p:spPr>
      </p:pic>
      <p:pic>
        <p:nvPicPr>
          <p:cNvPr id="5" name="Picture 4"/>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191626"/>
            <a:ext cx="1520114" cy="1342884"/>
          </a:xfrm>
          <a:prstGeom prst="rect">
            <a:avLst/>
          </a:prstGeom>
          <a:noFill/>
          <a:ln>
            <a:noFill/>
          </a:ln>
        </p:spPr>
      </p:pic>
      <p:sp>
        <p:nvSpPr>
          <p:cNvPr id="3" name="Content Placeholder 2"/>
          <p:cNvSpPr>
            <a:spLocks noGrp="1"/>
          </p:cNvSpPr>
          <p:nvPr>
            <p:ph idx="1"/>
          </p:nvPr>
        </p:nvSpPr>
        <p:spPr/>
        <p:txBody>
          <a:bodyPr>
            <a:normAutofit fontScale="40000" lnSpcReduction="20000"/>
          </a:bodyPr>
          <a:lstStyle/>
          <a:p>
            <a:pPr marL="0" indent="0">
              <a:buNone/>
            </a:pPr>
            <a:r>
              <a:rPr lang="en-US" sz="4300" b="1" dirty="0"/>
              <a:t>Purpose</a:t>
            </a:r>
          </a:p>
          <a:p>
            <a:pPr marL="0" indent="0">
              <a:buNone/>
            </a:pPr>
            <a:r>
              <a:rPr lang="en-US" sz="4300" dirty="0"/>
              <a:t>The purpose of this module is to provide a </a:t>
            </a:r>
            <a:r>
              <a:rPr lang="en-US" sz="4300" b="1" dirty="0"/>
              <a:t>secure and user-friendly interface</a:t>
            </a:r>
            <a:r>
              <a:rPr lang="en-US" sz="4300" dirty="0"/>
              <a:t> for accessing and using the </a:t>
            </a:r>
            <a:r>
              <a:rPr lang="en-US" sz="4300" dirty="0" err="1"/>
              <a:t>LangCheck</a:t>
            </a:r>
            <a:r>
              <a:rPr lang="en-US" sz="4300" dirty="0"/>
              <a:t> system.</a:t>
            </a:r>
          </a:p>
          <a:p>
            <a:pPr marL="0" indent="0">
              <a:buNone/>
            </a:pPr>
            <a:r>
              <a:rPr lang="en-US" sz="4300" b="1" dirty="0"/>
              <a:t>How to Implement</a:t>
            </a:r>
          </a:p>
          <a:p>
            <a:pPr>
              <a:buFont typeface="Wingdings" pitchFamily="2" charset="2"/>
              <a:buChar char="Ø"/>
            </a:pPr>
            <a:r>
              <a:rPr lang="en-US" sz="4300" dirty="0"/>
              <a:t>Implement user registration and login. </a:t>
            </a:r>
          </a:p>
          <a:p>
            <a:pPr>
              <a:buFont typeface="Wingdings" pitchFamily="2" charset="2"/>
              <a:buChar char="Ø"/>
            </a:pPr>
            <a:r>
              <a:rPr lang="en-US" sz="4300" dirty="0"/>
              <a:t>Provide a user dashboard. </a:t>
            </a:r>
          </a:p>
          <a:p>
            <a:pPr>
              <a:buFont typeface="Wingdings" pitchFamily="2" charset="2"/>
              <a:buChar char="Ø"/>
            </a:pPr>
            <a:r>
              <a:rPr lang="en-US" sz="4300" dirty="0"/>
              <a:t>Allow users to create, open, and manage projects. </a:t>
            </a:r>
          </a:p>
          <a:p>
            <a:pPr>
              <a:buFont typeface="Wingdings" pitchFamily="2" charset="2"/>
              <a:buChar char="Ø"/>
            </a:pPr>
            <a:r>
              <a:rPr lang="en-US" sz="4300" dirty="0"/>
              <a:t>Provide input forms for regular expressions, automata, and test strings. </a:t>
            </a:r>
          </a:p>
          <a:p>
            <a:pPr>
              <a:buFont typeface="Wingdings" pitchFamily="2" charset="2"/>
              <a:buChar char="Ø"/>
            </a:pPr>
            <a:r>
              <a:rPr lang="en-US" sz="4300" dirty="0"/>
              <a:t>Implement input validation. </a:t>
            </a:r>
          </a:p>
          <a:p>
            <a:pPr>
              <a:buFont typeface="Wingdings" pitchFamily="2" charset="2"/>
              <a:buChar char="Ø"/>
            </a:pPr>
            <a:r>
              <a:rPr lang="en-US" sz="4300" dirty="0"/>
              <a:t>Provide interactive automata visualization. </a:t>
            </a:r>
          </a:p>
          <a:p>
            <a:pPr>
              <a:buFont typeface="Wingdings" pitchFamily="2" charset="2"/>
              <a:buChar char="Ø"/>
            </a:pPr>
            <a:r>
              <a:rPr lang="en-US" sz="4300" dirty="0"/>
              <a:t>Display verification results clearly. </a:t>
            </a:r>
          </a:p>
          <a:p>
            <a:pPr marL="0" indent="0">
              <a:buNone/>
            </a:pPr>
            <a:r>
              <a:rPr lang="en-US" sz="4300" b="1" dirty="0"/>
              <a:t>Findings</a:t>
            </a:r>
          </a:p>
          <a:p>
            <a:pPr marL="0" indent="0">
              <a:buNone/>
            </a:pPr>
            <a:r>
              <a:rPr lang="en-US" sz="4300" dirty="0"/>
              <a:t>Users can access the system through authenticated accounts. </a:t>
            </a:r>
          </a:p>
          <a:p>
            <a:pPr marL="0" indent="0">
              <a:buNone/>
            </a:pPr>
            <a:r>
              <a:rPr lang="en-US" sz="4300" dirty="0"/>
              <a:t>Projects and verification activities can be organized efficiently. </a:t>
            </a:r>
          </a:p>
          <a:p>
            <a:pPr marL="0" indent="0">
              <a:buNone/>
            </a:pPr>
            <a:r>
              <a:rPr lang="en-US" sz="4300" dirty="0"/>
              <a:t>Interactive visualization makes automata easier to understand. </a:t>
            </a:r>
          </a:p>
          <a:p>
            <a:pPr marL="0" indent="0">
              <a:buNone/>
            </a:pPr>
            <a:r>
              <a:rPr lang="en-US" sz="4300" dirty="0"/>
              <a:t>Input validation reduces incorrect or incomplete submissions. </a:t>
            </a:r>
          </a:p>
          <a:p>
            <a:pPr marL="0" indent="0">
              <a:buNone/>
            </a:pPr>
            <a:endParaRPr lang="en-US" dirty="0">
              <a:latin typeface="Times New Roman" pitchFamily="18" charset="0"/>
              <a:cs typeface="Times New Roman" pitchFamily="18" charset="0"/>
            </a:endParaRPr>
          </a:p>
        </p:txBody>
      </p:sp>
      <p:sp>
        <p:nvSpPr>
          <p:cNvPr id="6" name="TextBox 5"/>
          <p:cNvSpPr txBox="1"/>
          <p:nvPr/>
        </p:nvSpPr>
        <p:spPr>
          <a:xfrm>
            <a:off x="7207623" y="2339788"/>
            <a:ext cx="4537312" cy="2308324"/>
          </a:xfrm>
          <a:prstGeom prst="rect">
            <a:avLst/>
          </a:prstGeom>
          <a:noFill/>
        </p:spPr>
        <p:txBody>
          <a:bodyPr wrap="square" rtlCol="0">
            <a:spAutoFit/>
          </a:bodyPr>
          <a:lstStyle/>
          <a:p>
            <a:r>
              <a:rPr lang="en-US" b="1" dirty="0"/>
              <a:t>Output</a:t>
            </a:r>
          </a:p>
          <a:p>
            <a:pPr marL="285750" indent="-285750">
              <a:buFont typeface="Wingdings" pitchFamily="2" charset="2"/>
              <a:buChar char="Ø"/>
            </a:pPr>
            <a:r>
              <a:rPr lang="en-US" dirty="0"/>
              <a:t>Registration and Login Interface </a:t>
            </a:r>
          </a:p>
          <a:p>
            <a:pPr marL="285750" indent="-285750">
              <a:buFont typeface="Wingdings" pitchFamily="2" charset="2"/>
              <a:buChar char="Ø"/>
            </a:pPr>
            <a:r>
              <a:rPr lang="en-US" dirty="0"/>
              <a:t>User Dashboard </a:t>
            </a:r>
          </a:p>
          <a:p>
            <a:pPr marL="285750" indent="-285750">
              <a:buFont typeface="Wingdings" pitchFamily="2" charset="2"/>
              <a:buChar char="Ø"/>
            </a:pPr>
            <a:r>
              <a:rPr lang="en-US" dirty="0"/>
              <a:t>Project Management Interface </a:t>
            </a:r>
          </a:p>
          <a:p>
            <a:pPr marL="285750" indent="-285750">
              <a:buFont typeface="Wingdings" pitchFamily="2" charset="2"/>
              <a:buChar char="Ø"/>
            </a:pPr>
            <a:r>
              <a:rPr lang="en-US" dirty="0"/>
              <a:t>Regular Expression / Automata Input </a:t>
            </a:r>
          </a:p>
          <a:p>
            <a:pPr marL="285750" indent="-285750">
              <a:buFont typeface="Wingdings" pitchFamily="2" charset="2"/>
              <a:buChar char="Ø"/>
            </a:pPr>
            <a:r>
              <a:rPr lang="en-US" dirty="0"/>
              <a:t>Test String Input </a:t>
            </a:r>
          </a:p>
          <a:p>
            <a:pPr marL="285750" indent="-285750">
              <a:buFont typeface="Wingdings" pitchFamily="2" charset="2"/>
              <a:buChar char="Ø"/>
            </a:pPr>
            <a:r>
              <a:rPr lang="en-US" dirty="0"/>
              <a:t>Automata Visualization </a:t>
            </a:r>
          </a:p>
          <a:p>
            <a:pPr marL="285750" indent="-285750">
              <a:buFont typeface="Wingdings" pitchFamily="2" charset="2"/>
              <a:buChar char="Ø"/>
            </a:pPr>
            <a:r>
              <a:rPr lang="en-US" dirty="0"/>
              <a:t>Verification Result Display</a:t>
            </a:r>
            <a:endParaRPr lang="en-US" dirty="0"/>
          </a:p>
        </p:txBody>
      </p:sp>
    </p:spTree>
    <p:extLst>
      <p:ext uri="{BB962C8B-B14F-4D97-AF65-F5344CB8AC3E}">
        <p14:creationId xmlns:p14="http://schemas.microsoft.com/office/powerpoint/2010/main" val="218148157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dirty="0"/>
              <a:t>Regular Language Verification Engine </a:t>
            </a:r>
            <a:endParaRPr sz="3600" b="1" dirty="0">
              <a:latin typeface="Times New Roman" pitchFamily="18" charset="0"/>
              <a:cs typeface="Times New Roman" pitchFamily="18" charset="0"/>
            </a:endParaRPr>
          </a:p>
        </p:txBody>
      </p:sp>
      <p:pic>
        <p:nvPicPr>
          <p:cNvPr id="4" name="Picture 3"/>
          <p:cNvPicPr/>
          <p:nvPr/>
        </p:nvPicPr>
        <p:blipFill>
          <a:blip r:embed="rId2" cstate="print">
            <a:extLst>
              <a:ext uri="{28A0092B-C50C-407E-A947-70E740481C1C}">
                <a14:useLocalDpi xmlns:a14="http://schemas.microsoft.com/office/drawing/2010/main" val="0"/>
              </a:ext>
            </a:extLst>
          </a:blip>
          <a:srcRect/>
          <a:stretch>
            <a:fillRect/>
          </a:stretch>
        </p:blipFill>
        <p:spPr>
          <a:xfrm>
            <a:off x="357352" y="191626"/>
            <a:ext cx="1135117" cy="1342884"/>
          </a:xfrm>
          <a:prstGeom prst="rect">
            <a:avLst/>
          </a:prstGeom>
          <a:noFill/>
        </p:spPr>
      </p:pic>
      <p:pic>
        <p:nvPicPr>
          <p:cNvPr id="5" name="Picture 4"/>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191626"/>
            <a:ext cx="1520114" cy="1342884"/>
          </a:xfrm>
          <a:prstGeom prst="rect">
            <a:avLst/>
          </a:prstGeom>
          <a:noFill/>
          <a:ln>
            <a:noFill/>
          </a:ln>
        </p:spPr>
      </p:pic>
      <p:sp>
        <p:nvSpPr>
          <p:cNvPr id="3" name="Content Placeholder 2"/>
          <p:cNvSpPr>
            <a:spLocks noGrp="1"/>
          </p:cNvSpPr>
          <p:nvPr>
            <p:ph idx="1"/>
          </p:nvPr>
        </p:nvSpPr>
        <p:spPr>
          <a:xfrm>
            <a:off x="609600" y="1600201"/>
            <a:ext cx="10972800" cy="4931228"/>
          </a:xfrm>
        </p:spPr>
        <p:txBody>
          <a:bodyPr>
            <a:normAutofit fontScale="85000" lnSpcReduction="20000"/>
          </a:bodyPr>
          <a:lstStyle/>
          <a:p>
            <a:pPr marL="0" indent="0">
              <a:buNone/>
            </a:pPr>
            <a:r>
              <a:rPr lang="en-US" sz="2000" b="1" dirty="0"/>
              <a:t>Purpose</a:t>
            </a:r>
          </a:p>
          <a:p>
            <a:pPr marL="0" indent="0">
              <a:buNone/>
            </a:pPr>
            <a:r>
              <a:rPr lang="en-US" sz="2000" dirty="0"/>
              <a:t>The purpose of this module is to </a:t>
            </a:r>
            <a:r>
              <a:rPr lang="en-US" sz="2000" b="1" dirty="0"/>
              <a:t>automatically construct, convert, analyze, and verify finite automata and regular languages</a:t>
            </a:r>
            <a:r>
              <a:rPr lang="en-US" sz="2000" dirty="0"/>
              <a:t>.</a:t>
            </a:r>
          </a:p>
          <a:p>
            <a:pPr marL="0" indent="0">
              <a:buNone/>
            </a:pPr>
            <a:r>
              <a:rPr lang="en-US" sz="2000" b="1" dirty="0"/>
              <a:t>How to Implement</a:t>
            </a:r>
          </a:p>
          <a:p>
            <a:pPr>
              <a:buFont typeface="Wingdings" pitchFamily="2" charset="2"/>
              <a:buChar char="Ø"/>
            </a:pPr>
            <a:r>
              <a:rPr lang="en-US" sz="2000" dirty="0"/>
              <a:t>Parse the entered regular expression. </a:t>
            </a:r>
          </a:p>
          <a:p>
            <a:pPr>
              <a:buFont typeface="Wingdings" pitchFamily="2" charset="2"/>
              <a:buChar char="Ø"/>
            </a:pPr>
            <a:r>
              <a:rPr lang="en-US" sz="2000" dirty="0"/>
              <a:t>Construct an </a:t>
            </a:r>
            <a:r>
              <a:rPr lang="en-US" sz="2000" b="1" dirty="0"/>
              <a:t>ε-NFA using Thompson's Construction</a:t>
            </a:r>
            <a:r>
              <a:rPr lang="en-US" sz="2000" dirty="0"/>
              <a:t>. </a:t>
            </a:r>
          </a:p>
          <a:p>
            <a:pPr>
              <a:buFont typeface="Wingdings" pitchFamily="2" charset="2"/>
              <a:buChar char="Ø"/>
            </a:pPr>
            <a:r>
              <a:rPr lang="en-US" sz="2000" dirty="0"/>
              <a:t>Calculate </a:t>
            </a:r>
            <a:r>
              <a:rPr lang="en-US" sz="2000" b="1" dirty="0"/>
              <a:t>ε-closure</a:t>
            </a:r>
            <a:r>
              <a:rPr lang="en-US" sz="2000" dirty="0"/>
              <a:t> for the required states. </a:t>
            </a:r>
          </a:p>
          <a:p>
            <a:pPr>
              <a:buFont typeface="Wingdings" pitchFamily="2" charset="2"/>
              <a:buChar char="Ø"/>
            </a:pPr>
            <a:r>
              <a:rPr lang="en-US" sz="2000" dirty="0"/>
              <a:t>Convert NFA to DFA using </a:t>
            </a:r>
            <a:r>
              <a:rPr lang="en-US" sz="2000" b="1" dirty="0"/>
              <a:t>Subset Construction</a:t>
            </a:r>
            <a:r>
              <a:rPr lang="en-US" sz="2000" dirty="0"/>
              <a:t>. </a:t>
            </a:r>
          </a:p>
          <a:p>
            <a:pPr>
              <a:buFont typeface="Wingdings" pitchFamily="2" charset="2"/>
              <a:buChar char="Ø"/>
            </a:pPr>
            <a:r>
              <a:rPr lang="en-US" sz="2000" dirty="0"/>
              <a:t>Minimize the DFA using </a:t>
            </a:r>
            <a:r>
              <a:rPr lang="en-US" sz="2000" b="1" dirty="0" err="1"/>
              <a:t>Hopcroft's</a:t>
            </a:r>
            <a:r>
              <a:rPr lang="en-US" sz="2000" b="1" dirty="0"/>
              <a:t> Algorithm</a:t>
            </a:r>
            <a:r>
              <a:rPr lang="en-US" sz="2000" dirty="0"/>
              <a:t>. </a:t>
            </a:r>
          </a:p>
          <a:p>
            <a:pPr>
              <a:buFont typeface="Wingdings" pitchFamily="2" charset="2"/>
              <a:buChar char="Ø"/>
            </a:pPr>
            <a:r>
              <a:rPr lang="en-US" sz="2000" dirty="0"/>
              <a:t>Validate input strings using the generated DFA. </a:t>
            </a:r>
          </a:p>
          <a:p>
            <a:pPr>
              <a:buFont typeface="Wingdings" pitchFamily="2" charset="2"/>
              <a:buChar char="Ø"/>
            </a:pPr>
            <a:r>
              <a:rPr lang="en-US" sz="2000" dirty="0"/>
              <a:t>Determine whether each string is </a:t>
            </a:r>
            <a:r>
              <a:rPr lang="en-US" sz="2000" b="1" dirty="0"/>
              <a:t>accepted or rejected</a:t>
            </a:r>
            <a:r>
              <a:rPr lang="en-US" sz="2000" dirty="0"/>
              <a:t>. </a:t>
            </a:r>
          </a:p>
          <a:p>
            <a:pPr>
              <a:buFont typeface="Wingdings" pitchFamily="2" charset="2"/>
              <a:buChar char="Ø"/>
            </a:pPr>
            <a:r>
              <a:rPr lang="en-US" sz="2000" dirty="0"/>
              <a:t>Generate automata visualizations and transition tables. </a:t>
            </a:r>
          </a:p>
          <a:p>
            <a:pPr marL="0" indent="0">
              <a:buNone/>
            </a:pPr>
            <a:r>
              <a:rPr lang="en-US" sz="2000" b="1" dirty="0"/>
              <a:t>Findings</a:t>
            </a:r>
          </a:p>
          <a:p>
            <a:pPr marL="0" indent="0">
              <a:buNone/>
            </a:pPr>
            <a:r>
              <a:rPr lang="en-US" sz="2000" dirty="0"/>
              <a:t>Regular expressions can be converted into equivalent automata. </a:t>
            </a:r>
          </a:p>
          <a:p>
            <a:pPr marL="0" indent="0">
              <a:buNone/>
            </a:pPr>
            <a:r>
              <a:rPr lang="en-US" sz="2000" dirty="0"/>
              <a:t>ε-NFA can be systematically converted into DFA. </a:t>
            </a:r>
          </a:p>
          <a:p>
            <a:pPr marL="0" indent="0">
              <a:buNone/>
            </a:pPr>
            <a:r>
              <a:rPr lang="en-US" sz="2000" dirty="0"/>
              <a:t>DFA minimization reduces unnecessary or equivalent states. </a:t>
            </a:r>
          </a:p>
          <a:p>
            <a:pPr marL="0" indent="0">
              <a:buNone/>
            </a:pPr>
            <a:r>
              <a:rPr lang="en-US" sz="2000" dirty="0"/>
              <a:t>Input strings can be automatically classified as accepted or rejected. </a:t>
            </a:r>
          </a:p>
          <a:p>
            <a:pPr marL="0" indent="0">
              <a:buNone/>
            </a:pPr>
            <a:r>
              <a:rPr lang="en-US" sz="2000" dirty="0"/>
              <a:t>The verification process reduces errors associated with manual calculations.</a:t>
            </a:r>
          </a:p>
        </p:txBody>
      </p:sp>
      <p:sp>
        <p:nvSpPr>
          <p:cNvPr id="6" name="TextBox 5"/>
          <p:cNvSpPr txBox="1"/>
          <p:nvPr/>
        </p:nvSpPr>
        <p:spPr>
          <a:xfrm>
            <a:off x="7354812" y="2197307"/>
            <a:ext cx="4227588" cy="3785652"/>
          </a:xfrm>
          <a:prstGeom prst="rect">
            <a:avLst/>
          </a:prstGeom>
          <a:noFill/>
        </p:spPr>
        <p:txBody>
          <a:bodyPr wrap="square" rtlCol="0">
            <a:spAutoFit/>
          </a:bodyPr>
          <a:lstStyle/>
          <a:p>
            <a:r>
              <a:rPr lang="en-IN" sz="2000" b="1" dirty="0"/>
              <a:t>Output</a:t>
            </a:r>
          </a:p>
          <a:p>
            <a:pPr marL="342900" indent="-342900">
              <a:buFont typeface="Wingdings" pitchFamily="2" charset="2"/>
              <a:buChar char="Ø"/>
            </a:pPr>
            <a:r>
              <a:rPr lang="en-IN" sz="2000" dirty="0"/>
              <a:t>Regular Expression Analysis </a:t>
            </a:r>
          </a:p>
          <a:p>
            <a:pPr marL="342900" indent="-342900">
              <a:buFont typeface="Wingdings" pitchFamily="2" charset="2"/>
              <a:buChar char="Ø"/>
            </a:pPr>
            <a:r>
              <a:rPr lang="el-GR" sz="2000" dirty="0"/>
              <a:t>ε-</a:t>
            </a:r>
            <a:r>
              <a:rPr lang="en-IN" sz="2000" dirty="0"/>
              <a:t>NFA </a:t>
            </a:r>
          </a:p>
          <a:p>
            <a:pPr marL="342900" indent="-342900">
              <a:buFont typeface="Wingdings" pitchFamily="2" charset="2"/>
              <a:buChar char="Ø"/>
            </a:pPr>
            <a:r>
              <a:rPr lang="en-IN" sz="2000" dirty="0"/>
              <a:t>NFA </a:t>
            </a:r>
          </a:p>
          <a:p>
            <a:pPr marL="342900" indent="-342900">
              <a:buFont typeface="Wingdings" pitchFamily="2" charset="2"/>
              <a:buChar char="Ø"/>
            </a:pPr>
            <a:r>
              <a:rPr lang="en-IN" sz="2000" dirty="0"/>
              <a:t>DFA </a:t>
            </a:r>
          </a:p>
          <a:p>
            <a:pPr marL="342900" indent="-342900">
              <a:buFont typeface="Wingdings" pitchFamily="2" charset="2"/>
              <a:buChar char="Ø"/>
            </a:pPr>
            <a:r>
              <a:rPr lang="en-IN" sz="2000" dirty="0"/>
              <a:t>Minimized DFA </a:t>
            </a:r>
          </a:p>
          <a:p>
            <a:pPr marL="342900" indent="-342900">
              <a:buFont typeface="Wingdings" pitchFamily="2" charset="2"/>
              <a:buChar char="Ø"/>
            </a:pPr>
            <a:r>
              <a:rPr lang="el-GR" sz="2000" dirty="0"/>
              <a:t>ε-</a:t>
            </a:r>
            <a:r>
              <a:rPr lang="en-IN" sz="2000" dirty="0"/>
              <a:t>Closure Results </a:t>
            </a:r>
          </a:p>
          <a:p>
            <a:pPr marL="342900" indent="-342900">
              <a:buFont typeface="Wingdings" pitchFamily="2" charset="2"/>
              <a:buChar char="Ø"/>
            </a:pPr>
            <a:r>
              <a:rPr lang="en-IN" sz="2000" dirty="0"/>
              <a:t>Transition Tables </a:t>
            </a:r>
          </a:p>
          <a:p>
            <a:pPr marL="342900" indent="-342900">
              <a:buFont typeface="Wingdings" pitchFamily="2" charset="2"/>
              <a:buChar char="Ø"/>
            </a:pPr>
            <a:r>
              <a:rPr lang="en-IN" sz="2000" dirty="0"/>
              <a:t>Accepted / Rejected Strings </a:t>
            </a:r>
          </a:p>
          <a:p>
            <a:pPr marL="342900" indent="-342900">
              <a:buFont typeface="Wingdings" pitchFamily="2" charset="2"/>
              <a:buChar char="Ø"/>
            </a:pPr>
            <a:r>
              <a:rPr lang="en-IN" sz="2000" dirty="0"/>
              <a:t>Regular Language Verification Result </a:t>
            </a:r>
          </a:p>
          <a:p>
            <a:pPr marL="342900" indent="-342900">
              <a:buFont typeface="Wingdings" pitchFamily="2" charset="2"/>
              <a:buChar char="Ø"/>
            </a:pPr>
            <a:r>
              <a:rPr lang="en-IN" sz="2000" dirty="0"/>
              <a:t>Automata Visualization</a:t>
            </a:r>
          </a:p>
        </p:txBody>
      </p:sp>
    </p:spTree>
    <p:extLst>
      <p:ext uri="{BB962C8B-B14F-4D97-AF65-F5344CB8AC3E}">
        <p14:creationId xmlns:p14="http://schemas.microsoft.com/office/powerpoint/2010/main" val="209033246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dirty="0"/>
              <a:t>Backend &amp; Database</a:t>
            </a:r>
            <a:endParaRPr sz="3600" b="1" dirty="0">
              <a:latin typeface="Times New Roman" pitchFamily="18" charset="0"/>
              <a:cs typeface="Times New Roman" pitchFamily="18" charset="0"/>
            </a:endParaRPr>
          </a:p>
        </p:txBody>
      </p:sp>
      <p:pic>
        <p:nvPicPr>
          <p:cNvPr id="4" name="Picture 3"/>
          <p:cNvPicPr/>
          <p:nvPr/>
        </p:nvPicPr>
        <p:blipFill>
          <a:blip r:embed="rId2" cstate="print">
            <a:extLst>
              <a:ext uri="{28A0092B-C50C-407E-A947-70E740481C1C}">
                <a14:useLocalDpi xmlns:a14="http://schemas.microsoft.com/office/drawing/2010/main" val="0"/>
              </a:ext>
            </a:extLst>
          </a:blip>
          <a:srcRect/>
          <a:stretch>
            <a:fillRect/>
          </a:stretch>
        </p:blipFill>
        <p:spPr>
          <a:xfrm>
            <a:off x="357352" y="191626"/>
            <a:ext cx="1135117" cy="1342884"/>
          </a:xfrm>
          <a:prstGeom prst="rect">
            <a:avLst/>
          </a:prstGeom>
          <a:noFill/>
        </p:spPr>
      </p:pic>
      <p:pic>
        <p:nvPicPr>
          <p:cNvPr id="5" name="Picture 4"/>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191626"/>
            <a:ext cx="1520114" cy="1342884"/>
          </a:xfrm>
          <a:prstGeom prst="rect">
            <a:avLst/>
          </a:prstGeom>
          <a:noFill/>
          <a:ln>
            <a:noFill/>
          </a:ln>
        </p:spPr>
      </p:pic>
      <p:sp>
        <p:nvSpPr>
          <p:cNvPr id="3" name="Content Placeholder 2"/>
          <p:cNvSpPr>
            <a:spLocks noGrp="1"/>
          </p:cNvSpPr>
          <p:nvPr>
            <p:ph idx="1"/>
          </p:nvPr>
        </p:nvSpPr>
        <p:spPr>
          <a:xfrm>
            <a:off x="609600" y="1600201"/>
            <a:ext cx="10972800" cy="4882242"/>
          </a:xfrm>
        </p:spPr>
        <p:txBody>
          <a:bodyPr>
            <a:normAutofit fontScale="85000" lnSpcReduction="10000"/>
          </a:bodyPr>
          <a:lstStyle/>
          <a:p>
            <a:pPr marL="0" indent="0">
              <a:buNone/>
            </a:pPr>
            <a:r>
              <a:rPr lang="en-US" sz="2000" b="1" dirty="0">
                <a:latin typeface="Times New Roman" pitchFamily="18" charset="0"/>
                <a:cs typeface="Times New Roman" pitchFamily="18" charset="0"/>
              </a:rPr>
              <a:t>Purpose</a:t>
            </a:r>
          </a:p>
          <a:p>
            <a:pPr marL="0" indent="0">
              <a:buNone/>
            </a:pPr>
            <a:r>
              <a:rPr lang="en-US" sz="2000" dirty="0">
                <a:latin typeface="Times New Roman" pitchFamily="18" charset="0"/>
                <a:cs typeface="Times New Roman" pitchFamily="18" charset="0"/>
              </a:rPr>
              <a:t>The purpose of this module is to provide the </a:t>
            </a:r>
            <a:r>
              <a:rPr lang="en-US" sz="2000" b="1" dirty="0">
                <a:latin typeface="Times New Roman" pitchFamily="18" charset="0"/>
                <a:cs typeface="Times New Roman" pitchFamily="18" charset="0"/>
              </a:rPr>
              <a:t>backend processing, API communication, and persistent storage</a:t>
            </a:r>
            <a:r>
              <a:rPr lang="en-US" sz="2000" dirty="0">
                <a:latin typeface="Times New Roman" pitchFamily="18" charset="0"/>
                <a:cs typeface="Times New Roman" pitchFamily="18" charset="0"/>
              </a:rPr>
              <a:t> required by </a:t>
            </a:r>
            <a:r>
              <a:rPr lang="en-US" sz="2000" dirty="0" err="1">
                <a:latin typeface="Times New Roman" pitchFamily="18" charset="0"/>
                <a:cs typeface="Times New Roman" pitchFamily="18" charset="0"/>
              </a:rPr>
              <a:t>LangCheck</a:t>
            </a:r>
            <a:r>
              <a:rPr lang="en-US" sz="2000" dirty="0">
                <a:latin typeface="Times New Roman" pitchFamily="18" charset="0"/>
                <a:cs typeface="Times New Roman" pitchFamily="18" charset="0"/>
              </a:rPr>
              <a:t>.</a:t>
            </a:r>
          </a:p>
          <a:p>
            <a:pPr marL="0" indent="0">
              <a:buNone/>
            </a:pPr>
            <a:r>
              <a:rPr lang="en-US" sz="2000" b="1" dirty="0">
                <a:latin typeface="Times New Roman" pitchFamily="18" charset="0"/>
                <a:cs typeface="Times New Roman" pitchFamily="18" charset="0"/>
              </a:rPr>
              <a:t>How to Implement</a:t>
            </a:r>
          </a:p>
          <a:p>
            <a:pPr>
              <a:buFont typeface="Wingdings" pitchFamily="2" charset="2"/>
              <a:buChar char="Ø"/>
            </a:pPr>
            <a:r>
              <a:rPr lang="en-US" sz="2000" dirty="0">
                <a:latin typeface="Times New Roman" pitchFamily="18" charset="0"/>
                <a:cs typeface="Times New Roman" pitchFamily="18" charset="0"/>
              </a:rPr>
              <a:t>Develop REST APIs for communication between frontend and backend. </a:t>
            </a:r>
          </a:p>
          <a:p>
            <a:pPr>
              <a:buFont typeface="Wingdings" pitchFamily="2" charset="2"/>
              <a:buChar char="Ø"/>
            </a:pPr>
            <a:r>
              <a:rPr lang="en-US" sz="2000" dirty="0">
                <a:latin typeface="Times New Roman" pitchFamily="18" charset="0"/>
                <a:cs typeface="Times New Roman" pitchFamily="18" charset="0"/>
              </a:rPr>
              <a:t>Implement business logic for verification operations. </a:t>
            </a:r>
          </a:p>
          <a:p>
            <a:pPr>
              <a:buFont typeface="Wingdings" pitchFamily="2" charset="2"/>
              <a:buChar char="Ø"/>
            </a:pPr>
            <a:r>
              <a:rPr lang="en-US" sz="2000" dirty="0">
                <a:latin typeface="Times New Roman" pitchFamily="18" charset="0"/>
                <a:cs typeface="Times New Roman" pitchFamily="18" charset="0"/>
              </a:rPr>
              <a:t>Create database tables for users and projects. </a:t>
            </a:r>
          </a:p>
          <a:p>
            <a:pPr>
              <a:buFont typeface="Wingdings" pitchFamily="2" charset="2"/>
              <a:buChar char="Ø"/>
            </a:pPr>
            <a:r>
              <a:rPr lang="en-US" sz="2000" dirty="0">
                <a:latin typeface="Times New Roman" pitchFamily="18" charset="0"/>
                <a:cs typeface="Times New Roman" pitchFamily="18" charset="0"/>
              </a:rPr>
              <a:t>Store automata, test strings, and verification results. </a:t>
            </a:r>
          </a:p>
          <a:p>
            <a:pPr>
              <a:buFont typeface="Wingdings" pitchFamily="2" charset="2"/>
              <a:buChar char="Ø"/>
            </a:pPr>
            <a:r>
              <a:rPr lang="en-US" sz="2000" dirty="0">
                <a:latin typeface="Times New Roman" pitchFamily="18" charset="0"/>
                <a:cs typeface="Times New Roman" pitchFamily="18" charset="0"/>
              </a:rPr>
              <a:t>Implement CRUD operations. </a:t>
            </a:r>
          </a:p>
          <a:p>
            <a:pPr>
              <a:buFont typeface="Wingdings" pitchFamily="2" charset="2"/>
              <a:buChar char="Ø"/>
            </a:pPr>
            <a:r>
              <a:rPr lang="en-US" sz="2000" dirty="0">
                <a:latin typeface="Times New Roman" pitchFamily="18" charset="0"/>
                <a:cs typeface="Times New Roman" pitchFamily="18" charset="0"/>
              </a:rPr>
              <a:t>Implement authentication and authorization. </a:t>
            </a:r>
          </a:p>
          <a:p>
            <a:pPr>
              <a:buFont typeface="Wingdings" pitchFamily="2" charset="2"/>
              <a:buChar char="Ø"/>
            </a:pPr>
            <a:r>
              <a:rPr lang="en-US" sz="2000" dirty="0">
                <a:latin typeface="Times New Roman" pitchFamily="18" charset="0"/>
                <a:cs typeface="Times New Roman" pitchFamily="18" charset="0"/>
              </a:rPr>
              <a:t>Add input validation and error handling. </a:t>
            </a:r>
          </a:p>
          <a:p>
            <a:pPr>
              <a:buFont typeface="Wingdings" pitchFamily="2" charset="2"/>
              <a:buChar char="Ø"/>
            </a:pPr>
            <a:r>
              <a:rPr lang="en-US" sz="2000" dirty="0">
                <a:latin typeface="Times New Roman" pitchFamily="18" charset="0"/>
                <a:cs typeface="Times New Roman" pitchFamily="18" charset="0"/>
              </a:rPr>
              <a:t>Maintain verification history and project data. </a:t>
            </a:r>
          </a:p>
          <a:p>
            <a:pPr marL="0" indent="0">
              <a:buNone/>
            </a:pPr>
            <a:r>
              <a:rPr lang="en-US" sz="2000" b="1" dirty="0">
                <a:latin typeface="Times New Roman" pitchFamily="18" charset="0"/>
                <a:cs typeface="Times New Roman" pitchFamily="18" charset="0"/>
              </a:rPr>
              <a:t>Findings</a:t>
            </a:r>
          </a:p>
          <a:p>
            <a:pPr marL="0" indent="0">
              <a:buNone/>
            </a:pPr>
            <a:r>
              <a:rPr lang="en-US" sz="2000" dirty="0">
                <a:latin typeface="Times New Roman" pitchFamily="18" charset="0"/>
                <a:cs typeface="Times New Roman" pitchFamily="18" charset="0"/>
              </a:rPr>
              <a:t>Centralized backend processing improves system organization. </a:t>
            </a:r>
          </a:p>
          <a:p>
            <a:pPr marL="0" indent="0">
              <a:buNone/>
            </a:pPr>
            <a:r>
              <a:rPr lang="en-US" sz="2000" dirty="0">
                <a:latin typeface="Times New Roman" pitchFamily="18" charset="0"/>
                <a:cs typeface="Times New Roman" pitchFamily="18" charset="0"/>
              </a:rPr>
              <a:t>Database storage allows users to save and retrieve previous projects. </a:t>
            </a:r>
          </a:p>
          <a:p>
            <a:pPr marL="0" indent="0">
              <a:buNone/>
            </a:pPr>
            <a:r>
              <a:rPr lang="en-US" sz="2000" dirty="0">
                <a:latin typeface="Times New Roman" pitchFamily="18" charset="0"/>
                <a:cs typeface="Times New Roman" pitchFamily="18" charset="0"/>
              </a:rPr>
              <a:t>API-based communication separates the frontend from backend processing. </a:t>
            </a:r>
          </a:p>
          <a:p>
            <a:pPr marL="0" indent="0">
              <a:buNone/>
            </a:pPr>
            <a:r>
              <a:rPr lang="en-US" sz="2000" dirty="0">
                <a:latin typeface="Times New Roman" pitchFamily="18" charset="0"/>
                <a:cs typeface="Times New Roman" pitchFamily="18" charset="0"/>
              </a:rPr>
              <a:t>Verification results and test cases can be maintained for future analysis.</a:t>
            </a:r>
          </a:p>
        </p:txBody>
      </p:sp>
      <p:sp>
        <p:nvSpPr>
          <p:cNvPr id="6" name="TextBox 5"/>
          <p:cNvSpPr txBox="1"/>
          <p:nvPr/>
        </p:nvSpPr>
        <p:spPr>
          <a:xfrm>
            <a:off x="7371758" y="2937223"/>
            <a:ext cx="3902530" cy="2585323"/>
          </a:xfrm>
          <a:prstGeom prst="rect">
            <a:avLst/>
          </a:prstGeom>
          <a:noFill/>
        </p:spPr>
        <p:txBody>
          <a:bodyPr wrap="square" rtlCol="0">
            <a:spAutoFit/>
          </a:bodyPr>
          <a:lstStyle/>
          <a:p>
            <a:r>
              <a:rPr lang="en-US" b="1" dirty="0">
                <a:latin typeface="Times New Roman" pitchFamily="18" charset="0"/>
                <a:cs typeface="Times New Roman" pitchFamily="18" charset="0"/>
              </a:rPr>
              <a:t>Output</a:t>
            </a:r>
          </a:p>
          <a:p>
            <a:pPr marL="285750" indent="-285750">
              <a:buFont typeface="Wingdings" pitchFamily="2" charset="2"/>
              <a:buChar char="Ø"/>
            </a:pPr>
            <a:r>
              <a:rPr lang="en-US" dirty="0">
                <a:latin typeface="Times New Roman" pitchFamily="18" charset="0"/>
                <a:cs typeface="Times New Roman" pitchFamily="18" charset="0"/>
              </a:rPr>
              <a:t>REST APIs </a:t>
            </a:r>
          </a:p>
          <a:p>
            <a:pPr marL="285750" indent="-285750">
              <a:buFont typeface="Wingdings" pitchFamily="2" charset="2"/>
              <a:buChar char="Ø"/>
            </a:pPr>
            <a:r>
              <a:rPr lang="en-US" dirty="0">
                <a:latin typeface="Times New Roman" pitchFamily="18" charset="0"/>
                <a:cs typeface="Times New Roman" pitchFamily="18" charset="0"/>
              </a:rPr>
              <a:t>User Database </a:t>
            </a:r>
          </a:p>
          <a:p>
            <a:pPr marL="285750" indent="-285750">
              <a:buFont typeface="Wingdings" pitchFamily="2" charset="2"/>
              <a:buChar char="Ø"/>
            </a:pPr>
            <a:r>
              <a:rPr lang="en-US" dirty="0">
                <a:latin typeface="Times New Roman" pitchFamily="18" charset="0"/>
                <a:cs typeface="Times New Roman" pitchFamily="18" charset="0"/>
              </a:rPr>
              <a:t>Project Database </a:t>
            </a:r>
          </a:p>
          <a:p>
            <a:pPr marL="285750" indent="-285750">
              <a:buFont typeface="Wingdings" pitchFamily="2" charset="2"/>
              <a:buChar char="Ø"/>
            </a:pPr>
            <a:r>
              <a:rPr lang="en-US" dirty="0">
                <a:latin typeface="Times New Roman" pitchFamily="18" charset="0"/>
                <a:cs typeface="Times New Roman" pitchFamily="18" charset="0"/>
              </a:rPr>
              <a:t>Automata Records </a:t>
            </a:r>
          </a:p>
          <a:p>
            <a:pPr marL="285750" indent="-285750">
              <a:buFont typeface="Wingdings" pitchFamily="2" charset="2"/>
              <a:buChar char="Ø"/>
            </a:pPr>
            <a:r>
              <a:rPr lang="en-US" dirty="0">
                <a:latin typeface="Times New Roman" pitchFamily="18" charset="0"/>
                <a:cs typeface="Times New Roman" pitchFamily="18" charset="0"/>
              </a:rPr>
              <a:t>Test String Records </a:t>
            </a:r>
          </a:p>
          <a:p>
            <a:pPr marL="285750" indent="-285750">
              <a:buFont typeface="Wingdings" pitchFamily="2" charset="2"/>
              <a:buChar char="Ø"/>
            </a:pPr>
            <a:r>
              <a:rPr lang="en-US" dirty="0">
                <a:latin typeface="Times New Roman" pitchFamily="18" charset="0"/>
                <a:cs typeface="Times New Roman" pitchFamily="18" charset="0"/>
              </a:rPr>
              <a:t>Verification Results </a:t>
            </a:r>
          </a:p>
          <a:p>
            <a:pPr marL="285750" indent="-285750">
              <a:buFont typeface="Wingdings" pitchFamily="2" charset="2"/>
              <a:buChar char="Ø"/>
            </a:pPr>
            <a:r>
              <a:rPr lang="en-US" dirty="0">
                <a:latin typeface="Times New Roman" pitchFamily="18" charset="0"/>
                <a:cs typeface="Times New Roman" pitchFamily="18" charset="0"/>
              </a:rPr>
              <a:t>Reports and Logs </a:t>
            </a:r>
          </a:p>
          <a:p>
            <a:pPr marL="285750" indent="-285750">
              <a:buFont typeface="Wingdings" pitchFamily="2" charset="2"/>
              <a:buChar char="Ø"/>
            </a:pPr>
            <a:r>
              <a:rPr lang="en-US" dirty="0">
                <a:latin typeface="Times New Roman" pitchFamily="18" charset="0"/>
                <a:cs typeface="Times New Roman" pitchFamily="18" charset="0"/>
              </a:rPr>
              <a:t>Verification History</a:t>
            </a:r>
          </a:p>
        </p:txBody>
      </p:sp>
    </p:spTree>
    <p:extLst>
      <p:ext uri="{BB962C8B-B14F-4D97-AF65-F5344CB8AC3E}">
        <p14:creationId xmlns:p14="http://schemas.microsoft.com/office/powerpoint/2010/main" val="136997955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dirty="0"/>
              <a:t>Reports, Analytics &amp; Testing</a:t>
            </a:r>
            <a:endParaRPr sz="3600" b="1" dirty="0">
              <a:latin typeface="Times New Roman" pitchFamily="18" charset="0"/>
              <a:cs typeface="Times New Roman" pitchFamily="18" charset="0"/>
            </a:endParaRPr>
          </a:p>
        </p:txBody>
      </p:sp>
      <p:pic>
        <p:nvPicPr>
          <p:cNvPr id="4" name="Picture 3"/>
          <p:cNvPicPr/>
          <p:nvPr/>
        </p:nvPicPr>
        <p:blipFill>
          <a:blip r:embed="rId2" cstate="print">
            <a:extLst>
              <a:ext uri="{28A0092B-C50C-407E-A947-70E740481C1C}">
                <a14:useLocalDpi xmlns:a14="http://schemas.microsoft.com/office/drawing/2010/main" val="0"/>
              </a:ext>
            </a:extLst>
          </a:blip>
          <a:srcRect/>
          <a:stretch>
            <a:fillRect/>
          </a:stretch>
        </p:blipFill>
        <p:spPr>
          <a:xfrm>
            <a:off x="357352" y="191626"/>
            <a:ext cx="1135117" cy="1342884"/>
          </a:xfrm>
          <a:prstGeom prst="rect">
            <a:avLst/>
          </a:prstGeom>
          <a:noFill/>
        </p:spPr>
      </p:pic>
      <p:pic>
        <p:nvPicPr>
          <p:cNvPr id="5" name="Picture 4"/>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191626"/>
            <a:ext cx="1520114" cy="1342884"/>
          </a:xfrm>
          <a:prstGeom prst="rect">
            <a:avLst/>
          </a:prstGeom>
          <a:noFill/>
          <a:ln>
            <a:noFill/>
          </a:ln>
        </p:spPr>
      </p:pic>
      <p:sp>
        <p:nvSpPr>
          <p:cNvPr id="3" name="Content Placeholder 2"/>
          <p:cNvSpPr>
            <a:spLocks noGrp="1"/>
          </p:cNvSpPr>
          <p:nvPr>
            <p:ph idx="1"/>
          </p:nvPr>
        </p:nvSpPr>
        <p:spPr>
          <a:xfrm>
            <a:off x="609600" y="1600201"/>
            <a:ext cx="10972800" cy="4882242"/>
          </a:xfrm>
        </p:spPr>
        <p:txBody>
          <a:bodyPr>
            <a:normAutofit fontScale="85000" lnSpcReduction="10000"/>
          </a:bodyPr>
          <a:lstStyle/>
          <a:p>
            <a:pPr marL="0" indent="0">
              <a:buNone/>
            </a:pPr>
            <a:r>
              <a:rPr lang="en-US" sz="2000" b="1" dirty="0">
                <a:latin typeface="Times New Roman" pitchFamily="18" charset="0"/>
                <a:cs typeface="Times New Roman" pitchFamily="18" charset="0"/>
              </a:rPr>
              <a:t>Purpose</a:t>
            </a:r>
          </a:p>
          <a:p>
            <a:pPr marL="0" indent="0">
              <a:buNone/>
            </a:pPr>
            <a:r>
              <a:rPr lang="en-US" sz="2000" dirty="0">
                <a:latin typeface="Times New Roman" pitchFamily="18" charset="0"/>
                <a:cs typeface="Times New Roman" pitchFamily="18" charset="0"/>
              </a:rPr>
              <a:t>The purpose of this module is to </a:t>
            </a:r>
            <a:r>
              <a:rPr lang="en-US" sz="2000" b="1" dirty="0">
                <a:latin typeface="Times New Roman" pitchFamily="18" charset="0"/>
                <a:cs typeface="Times New Roman" pitchFamily="18" charset="0"/>
              </a:rPr>
              <a:t>evaluate system performance, analyze verification results, and generate detailed reports</a:t>
            </a:r>
            <a:r>
              <a:rPr lang="en-US" sz="2000" dirty="0">
                <a:latin typeface="Times New Roman" pitchFamily="18" charset="0"/>
                <a:cs typeface="Times New Roman" pitchFamily="18" charset="0"/>
              </a:rPr>
              <a:t>.</a:t>
            </a:r>
          </a:p>
          <a:p>
            <a:pPr marL="0" indent="0">
              <a:buNone/>
            </a:pPr>
            <a:r>
              <a:rPr lang="en-US" sz="2000" b="1" dirty="0">
                <a:latin typeface="Times New Roman" pitchFamily="18" charset="0"/>
                <a:cs typeface="Times New Roman" pitchFamily="18" charset="0"/>
              </a:rPr>
              <a:t>How to Implement</a:t>
            </a:r>
          </a:p>
          <a:p>
            <a:pPr>
              <a:buFont typeface="Wingdings" pitchFamily="2" charset="2"/>
              <a:buChar char="Ø"/>
            </a:pPr>
            <a:r>
              <a:rPr lang="en-US" sz="2000" dirty="0">
                <a:latin typeface="Times New Roman" pitchFamily="18" charset="0"/>
                <a:cs typeface="Times New Roman" pitchFamily="18" charset="0"/>
              </a:rPr>
              <a:t>Execute predefined and user-defined test cases. </a:t>
            </a:r>
          </a:p>
          <a:p>
            <a:pPr>
              <a:buFont typeface="Wingdings" pitchFamily="2" charset="2"/>
              <a:buChar char="Ø"/>
            </a:pPr>
            <a:r>
              <a:rPr lang="en-US" sz="2000" dirty="0">
                <a:latin typeface="Times New Roman" pitchFamily="18" charset="0"/>
                <a:cs typeface="Times New Roman" pitchFamily="18" charset="0"/>
              </a:rPr>
              <a:t>Maintain </a:t>
            </a:r>
            <a:r>
              <a:rPr lang="en-US" sz="2000" dirty="0" err="1" smtClean="0">
                <a:latin typeface="Times New Roman" pitchFamily="18" charset="0"/>
                <a:cs typeface="Times New Roman" pitchFamily="18" charset="0"/>
              </a:rPr>
              <a:t>teast</a:t>
            </a:r>
            <a:r>
              <a:rPr lang="en-US" sz="2000" dirty="0" smtClean="0">
                <a:latin typeface="Times New Roman" pitchFamily="18" charset="0"/>
                <a:cs typeface="Times New Roman" pitchFamily="18" charset="0"/>
              </a:rPr>
              <a:t> </a:t>
            </a:r>
            <a:r>
              <a:rPr lang="en-US" sz="2000" dirty="0">
                <a:latin typeface="Times New Roman" pitchFamily="18" charset="0"/>
                <a:cs typeface="Times New Roman" pitchFamily="18" charset="0"/>
              </a:rPr>
              <a:t>execution history. </a:t>
            </a:r>
          </a:p>
          <a:p>
            <a:pPr>
              <a:buFont typeface="Wingdings" pitchFamily="2" charset="2"/>
              <a:buChar char="Ø"/>
            </a:pPr>
            <a:r>
              <a:rPr lang="en-US" sz="2000" dirty="0">
                <a:latin typeface="Times New Roman" pitchFamily="18" charset="0"/>
                <a:cs typeface="Times New Roman" pitchFamily="18" charset="0"/>
              </a:rPr>
              <a:t>Calculate acceptance and rejection statistics. </a:t>
            </a:r>
          </a:p>
          <a:p>
            <a:pPr>
              <a:buFont typeface="Wingdings" pitchFamily="2" charset="2"/>
              <a:buChar char="Ø"/>
            </a:pPr>
            <a:r>
              <a:rPr lang="en-US" sz="2000" dirty="0">
                <a:latin typeface="Times New Roman" pitchFamily="18" charset="0"/>
                <a:cs typeface="Times New Roman" pitchFamily="18" charset="0"/>
              </a:rPr>
              <a:t>Analyze the number of automata states and transitions. </a:t>
            </a:r>
          </a:p>
          <a:p>
            <a:pPr>
              <a:buFont typeface="Wingdings" pitchFamily="2" charset="2"/>
              <a:buChar char="Ø"/>
            </a:pPr>
            <a:r>
              <a:rPr lang="en-US" sz="2000" dirty="0">
                <a:latin typeface="Times New Roman" pitchFamily="18" charset="0"/>
                <a:cs typeface="Times New Roman" pitchFamily="18" charset="0"/>
              </a:rPr>
              <a:t>Generate verification and automata conversion reports. </a:t>
            </a:r>
          </a:p>
          <a:p>
            <a:pPr>
              <a:buFont typeface="Wingdings" pitchFamily="2" charset="2"/>
              <a:buChar char="Ø"/>
            </a:pPr>
            <a:r>
              <a:rPr lang="en-US" sz="2000" dirty="0">
                <a:latin typeface="Times New Roman" pitchFamily="18" charset="0"/>
                <a:cs typeface="Times New Roman" pitchFamily="18" charset="0"/>
              </a:rPr>
              <a:t>Perform functional testing. </a:t>
            </a:r>
          </a:p>
          <a:p>
            <a:pPr>
              <a:buFont typeface="Wingdings" pitchFamily="2" charset="2"/>
              <a:buChar char="Ø"/>
            </a:pPr>
            <a:r>
              <a:rPr lang="en-US" sz="2000" dirty="0">
                <a:latin typeface="Times New Roman" pitchFamily="18" charset="0"/>
                <a:cs typeface="Times New Roman" pitchFamily="18" charset="0"/>
              </a:rPr>
              <a:t>Perform integration testing. </a:t>
            </a:r>
          </a:p>
          <a:p>
            <a:pPr>
              <a:buFont typeface="Wingdings" pitchFamily="2" charset="2"/>
              <a:buChar char="Ø"/>
            </a:pPr>
            <a:r>
              <a:rPr lang="en-US" sz="2000" dirty="0">
                <a:latin typeface="Times New Roman" pitchFamily="18" charset="0"/>
                <a:cs typeface="Times New Roman" pitchFamily="18" charset="0"/>
              </a:rPr>
              <a:t>Export reports in PDF/CSV formats. </a:t>
            </a:r>
          </a:p>
          <a:p>
            <a:pPr marL="0" indent="0">
              <a:buNone/>
            </a:pPr>
            <a:r>
              <a:rPr lang="en-US" sz="2000" b="1" dirty="0">
                <a:latin typeface="Times New Roman" pitchFamily="18" charset="0"/>
                <a:cs typeface="Times New Roman" pitchFamily="18" charset="0"/>
              </a:rPr>
              <a:t>Findings</a:t>
            </a:r>
          </a:p>
          <a:p>
            <a:pPr marL="0" indent="0">
              <a:buNone/>
            </a:pPr>
            <a:r>
              <a:rPr lang="en-US" sz="2000" dirty="0">
                <a:latin typeface="Times New Roman" pitchFamily="18" charset="0"/>
                <a:cs typeface="Times New Roman" pitchFamily="18" charset="0"/>
              </a:rPr>
              <a:t>Testing helps identify errors in the verification engine. </a:t>
            </a:r>
          </a:p>
          <a:p>
            <a:pPr marL="0" indent="0">
              <a:buNone/>
            </a:pPr>
            <a:r>
              <a:rPr lang="en-US" sz="2000" dirty="0">
                <a:latin typeface="Times New Roman" pitchFamily="18" charset="0"/>
                <a:cs typeface="Times New Roman" pitchFamily="18" charset="0"/>
              </a:rPr>
              <a:t>Analytics provide a clear overview of verification activities. </a:t>
            </a:r>
          </a:p>
          <a:p>
            <a:pPr marL="0" indent="0">
              <a:buNone/>
            </a:pPr>
            <a:r>
              <a:rPr lang="en-US" sz="2000" dirty="0">
                <a:latin typeface="Times New Roman" pitchFamily="18" charset="0"/>
                <a:cs typeface="Times New Roman" pitchFamily="18" charset="0"/>
              </a:rPr>
              <a:t>Test history allows previous results to be reviewed. </a:t>
            </a:r>
          </a:p>
          <a:p>
            <a:pPr marL="0" indent="0">
              <a:buNone/>
            </a:pPr>
            <a:r>
              <a:rPr lang="en-US" sz="2000" dirty="0">
                <a:latin typeface="Times New Roman" pitchFamily="18" charset="0"/>
                <a:cs typeface="Times New Roman" pitchFamily="18" charset="0"/>
              </a:rPr>
              <a:t>Reports make verification results easier to document and analyze.</a:t>
            </a:r>
          </a:p>
        </p:txBody>
      </p:sp>
      <p:sp>
        <p:nvSpPr>
          <p:cNvPr id="7" name="Rectangle 6"/>
          <p:cNvSpPr/>
          <p:nvPr/>
        </p:nvSpPr>
        <p:spPr>
          <a:xfrm>
            <a:off x="6441140" y="2553198"/>
            <a:ext cx="3980329" cy="2862322"/>
          </a:xfrm>
          <a:prstGeom prst="rect">
            <a:avLst/>
          </a:prstGeom>
        </p:spPr>
        <p:txBody>
          <a:bodyPr wrap="square">
            <a:spAutoFit/>
          </a:bodyPr>
          <a:lstStyle/>
          <a:p>
            <a:r>
              <a:rPr lang="en-US" b="1" dirty="0">
                <a:latin typeface="Times New Roman" pitchFamily="18" charset="0"/>
                <a:cs typeface="Times New Roman" pitchFamily="18" charset="0"/>
              </a:rPr>
              <a:t>Output</a:t>
            </a:r>
          </a:p>
          <a:p>
            <a:pPr marL="285750" indent="-285750">
              <a:buFont typeface="Wingdings" pitchFamily="2" charset="2"/>
              <a:buChar char="Ø"/>
            </a:pPr>
            <a:r>
              <a:rPr lang="en-US" dirty="0">
                <a:latin typeface="Times New Roman" pitchFamily="18" charset="0"/>
                <a:cs typeface="Times New Roman" pitchFamily="18" charset="0"/>
              </a:rPr>
              <a:t>Verification Reports </a:t>
            </a:r>
          </a:p>
          <a:p>
            <a:pPr marL="285750" indent="-285750">
              <a:buFont typeface="Wingdings" pitchFamily="2" charset="2"/>
              <a:buChar char="Ø"/>
            </a:pPr>
            <a:r>
              <a:rPr lang="en-US" dirty="0">
                <a:latin typeface="Times New Roman" pitchFamily="18" charset="0"/>
                <a:cs typeface="Times New Roman" pitchFamily="18" charset="0"/>
              </a:rPr>
              <a:t>Automata Conversion Reports </a:t>
            </a:r>
          </a:p>
          <a:p>
            <a:pPr marL="285750" indent="-285750">
              <a:buFont typeface="Wingdings" pitchFamily="2" charset="2"/>
              <a:buChar char="Ø"/>
            </a:pPr>
            <a:r>
              <a:rPr lang="en-US" dirty="0">
                <a:latin typeface="Times New Roman" pitchFamily="18" charset="0"/>
                <a:cs typeface="Times New Roman" pitchFamily="18" charset="0"/>
              </a:rPr>
              <a:t>DFA Minimization Reports </a:t>
            </a:r>
          </a:p>
          <a:p>
            <a:pPr marL="285750" indent="-285750">
              <a:buFont typeface="Wingdings" pitchFamily="2" charset="2"/>
              <a:buChar char="Ø"/>
            </a:pPr>
            <a:r>
              <a:rPr lang="en-US" dirty="0">
                <a:latin typeface="Times New Roman" pitchFamily="18" charset="0"/>
                <a:cs typeface="Times New Roman" pitchFamily="18" charset="0"/>
              </a:rPr>
              <a:t>Test Execution History </a:t>
            </a:r>
          </a:p>
          <a:p>
            <a:pPr marL="285750" indent="-285750">
              <a:buFont typeface="Wingdings" pitchFamily="2" charset="2"/>
              <a:buChar char="Ø"/>
            </a:pPr>
            <a:r>
              <a:rPr lang="en-US" dirty="0">
                <a:latin typeface="Times New Roman" pitchFamily="18" charset="0"/>
                <a:cs typeface="Times New Roman" pitchFamily="18" charset="0"/>
              </a:rPr>
              <a:t>Acceptance / Rejection Statistics </a:t>
            </a:r>
          </a:p>
          <a:p>
            <a:pPr marL="285750" indent="-285750">
              <a:buFont typeface="Wingdings" pitchFamily="2" charset="2"/>
              <a:buChar char="Ø"/>
            </a:pPr>
            <a:r>
              <a:rPr lang="en-US" dirty="0">
                <a:latin typeface="Times New Roman" pitchFamily="18" charset="0"/>
                <a:cs typeface="Times New Roman" pitchFamily="18" charset="0"/>
              </a:rPr>
              <a:t>Performance Analysis </a:t>
            </a:r>
          </a:p>
          <a:p>
            <a:pPr marL="285750" indent="-285750">
              <a:buFont typeface="Wingdings" pitchFamily="2" charset="2"/>
              <a:buChar char="Ø"/>
            </a:pPr>
            <a:r>
              <a:rPr lang="en-US" dirty="0">
                <a:latin typeface="Times New Roman" pitchFamily="18" charset="0"/>
                <a:cs typeface="Times New Roman" pitchFamily="18" charset="0"/>
              </a:rPr>
              <a:t>PDF / CSV Reports </a:t>
            </a:r>
          </a:p>
          <a:p>
            <a:pPr marL="285750" indent="-285750">
              <a:buFont typeface="Wingdings" pitchFamily="2" charset="2"/>
              <a:buChar char="Ø"/>
            </a:pPr>
            <a:r>
              <a:rPr lang="en-US" dirty="0">
                <a:latin typeface="Times New Roman" pitchFamily="18" charset="0"/>
                <a:cs typeface="Times New Roman" pitchFamily="18" charset="0"/>
              </a:rPr>
              <a:t>Functional and Integration Test Results</a:t>
            </a:r>
          </a:p>
        </p:txBody>
      </p:sp>
    </p:spTree>
    <p:extLst>
      <p:ext uri="{BB962C8B-B14F-4D97-AF65-F5344CB8AC3E}">
        <p14:creationId xmlns:p14="http://schemas.microsoft.com/office/powerpoint/2010/main" val="60719329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latin typeface="Times New Roman" pitchFamily="18" charset="0"/>
                <a:cs typeface="Times New Roman" pitchFamily="18" charset="0"/>
              </a:rPr>
              <a:t>Implementation</a:t>
            </a:r>
          </a:p>
        </p:txBody>
      </p:sp>
      <p:pic>
        <p:nvPicPr>
          <p:cNvPr id="4" name="Picture 3"/>
          <p:cNvPicPr/>
          <p:nvPr/>
        </p:nvPicPr>
        <p:blipFill>
          <a:blip r:embed="rId2" cstate="print">
            <a:extLst>
              <a:ext uri="{28A0092B-C50C-407E-A947-70E740481C1C}">
                <a14:useLocalDpi xmlns:a14="http://schemas.microsoft.com/office/drawing/2010/main" val="0"/>
              </a:ext>
            </a:extLst>
          </a:blip>
          <a:srcRect/>
          <a:stretch>
            <a:fillRect/>
          </a:stretch>
        </p:blipFill>
        <p:spPr>
          <a:xfrm>
            <a:off x="357352" y="191626"/>
            <a:ext cx="1135117" cy="1342884"/>
          </a:xfrm>
          <a:prstGeom prst="rect">
            <a:avLst/>
          </a:prstGeom>
          <a:noFill/>
        </p:spPr>
      </p:pic>
      <p:pic>
        <p:nvPicPr>
          <p:cNvPr id="5" name="Picture 4"/>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191626"/>
            <a:ext cx="1520114" cy="1342884"/>
          </a:xfrm>
          <a:prstGeom prst="rect">
            <a:avLst/>
          </a:prstGeom>
          <a:noFill/>
          <a:ln>
            <a:noFill/>
          </a:ln>
        </p:spPr>
      </p:pic>
      <p:graphicFrame>
        <p:nvGraphicFramePr>
          <p:cNvPr id="7" name="Content Placeholder 6"/>
          <p:cNvGraphicFramePr>
            <a:graphicFrameLocks noGrp="1"/>
          </p:cNvGraphicFramePr>
          <p:nvPr>
            <p:ph idx="1"/>
            <p:extLst>
              <p:ext uri="{D42A27DB-BD31-4B8C-83A1-F6EECF244321}">
                <p14:modId xmlns:p14="http://schemas.microsoft.com/office/powerpoint/2010/main" val="1570441490"/>
              </p:ext>
            </p:extLst>
          </p:nvPr>
        </p:nvGraphicFramePr>
        <p:xfrm>
          <a:off x="609600" y="1714341"/>
          <a:ext cx="10972800" cy="4297680"/>
        </p:xfrm>
        <a:graphic>
          <a:graphicData uri="http://schemas.openxmlformats.org/drawingml/2006/table">
            <a:tbl>
              <a:tblPr/>
              <a:tblGrid>
                <a:gridCol w="5486400"/>
                <a:gridCol w="5486400"/>
              </a:tblGrid>
              <a:tr h="0">
                <a:tc>
                  <a:txBody>
                    <a:bodyPr/>
                    <a:lstStyle/>
                    <a:p>
                      <a:r>
                        <a:rPr lang="en-IN" b="1" dirty="0">
                          <a:latin typeface="Times New Roman" pitchFamily="18" charset="0"/>
                          <a:cs typeface="Times New Roman" pitchFamily="18" charset="0"/>
                        </a:rPr>
                        <a:t>Module</a:t>
                      </a:r>
                      <a:endParaRPr lang="en-IN" dirty="0">
                        <a:latin typeface="Times New Roman" pitchFamily="18" charset="0"/>
                        <a:cs typeface="Times New Roman" pitchFamily="18" charset="0"/>
                      </a:endParaRPr>
                    </a:p>
                  </a:txBody>
                  <a:tcPr anchor="ctr">
                    <a:lnL>
                      <a:noFill/>
                    </a:lnL>
                    <a:lnR>
                      <a:noFill/>
                    </a:lnR>
                    <a:lnT>
                      <a:noFill/>
                    </a:lnT>
                    <a:lnB>
                      <a:noFill/>
                    </a:lnB>
                  </a:tcPr>
                </a:tc>
                <a:tc>
                  <a:txBody>
                    <a:bodyPr/>
                    <a:lstStyle/>
                    <a:p>
                      <a:r>
                        <a:rPr lang="en-IN" b="1">
                          <a:latin typeface="Times New Roman" pitchFamily="18" charset="0"/>
                          <a:cs typeface="Times New Roman" pitchFamily="18" charset="0"/>
                        </a:rPr>
                        <a:t>Functions &amp; Functionalities</a:t>
                      </a:r>
                      <a:endParaRPr lang="en-IN">
                        <a:latin typeface="Times New Roman" pitchFamily="18" charset="0"/>
                        <a:cs typeface="Times New Roman" pitchFamily="18" charset="0"/>
                      </a:endParaRPr>
                    </a:p>
                  </a:txBody>
                  <a:tcPr anchor="ctr">
                    <a:lnL>
                      <a:noFill/>
                    </a:lnL>
                    <a:lnR>
                      <a:noFill/>
                    </a:lnR>
                    <a:lnT>
                      <a:noFill/>
                    </a:lnT>
                    <a:lnB>
                      <a:noFill/>
                    </a:lnB>
                  </a:tcPr>
                </a:tc>
              </a:tr>
              <a:tr h="0">
                <a:tc>
                  <a:txBody>
                    <a:bodyPr/>
                    <a:lstStyle/>
                    <a:p>
                      <a:r>
                        <a:rPr lang="en-IN" b="1">
                          <a:latin typeface="Times New Roman" pitchFamily="18" charset="0"/>
                          <a:cs typeface="Times New Roman" pitchFamily="18" charset="0"/>
                        </a:rPr>
                        <a:t>MOD 1 – User Management &amp; Interface</a:t>
                      </a:r>
                      <a:endParaRPr lang="en-IN">
                        <a:latin typeface="Times New Roman" pitchFamily="18" charset="0"/>
                        <a:cs typeface="Times New Roman" pitchFamily="18" charset="0"/>
                      </a:endParaRPr>
                    </a:p>
                  </a:txBody>
                  <a:tcPr anchor="ctr">
                    <a:lnL>
                      <a:noFill/>
                    </a:lnL>
                    <a:lnR>
                      <a:noFill/>
                    </a:lnR>
                    <a:lnT>
                      <a:noFill/>
                    </a:lnT>
                    <a:lnB>
                      <a:noFill/>
                    </a:lnB>
                  </a:tcPr>
                </a:tc>
                <a:tc>
                  <a:txBody>
                    <a:bodyPr/>
                    <a:lstStyle/>
                    <a:p>
                      <a:r>
                        <a:rPr lang="en-US">
                          <a:latin typeface="Times New Roman" pitchFamily="18" charset="0"/>
                          <a:cs typeface="Times New Roman" pitchFamily="18" charset="0"/>
                        </a:rPr>
                        <a:t>User registration/login, dashboard, project management, regular-expression and test-string input, and interactive automata visualization.</a:t>
                      </a:r>
                    </a:p>
                  </a:txBody>
                  <a:tcPr anchor="ctr">
                    <a:lnL>
                      <a:noFill/>
                    </a:lnL>
                    <a:lnR>
                      <a:noFill/>
                    </a:lnR>
                    <a:lnT>
                      <a:noFill/>
                    </a:lnT>
                    <a:lnB>
                      <a:noFill/>
                    </a:lnB>
                  </a:tcPr>
                </a:tc>
              </a:tr>
              <a:tr h="0">
                <a:tc>
                  <a:txBody>
                    <a:bodyPr/>
                    <a:lstStyle/>
                    <a:p>
                      <a:r>
                        <a:rPr lang="en-IN" b="1">
                          <a:latin typeface="Times New Roman" pitchFamily="18" charset="0"/>
                          <a:cs typeface="Times New Roman" pitchFamily="18" charset="0"/>
                        </a:rPr>
                        <a:t>MOD 2 – Regular Language Verification Engine</a:t>
                      </a:r>
                      <a:endParaRPr lang="en-IN">
                        <a:latin typeface="Times New Roman" pitchFamily="18" charset="0"/>
                        <a:cs typeface="Times New Roman" pitchFamily="18" charset="0"/>
                      </a:endParaRPr>
                    </a:p>
                  </a:txBody>
                  <a:tcPr anchor="ctr">
                    <a:lnL>
                      <a:noFill/>
                    </a:lnL>
                    <a:lnR>
                      <a:noFill/>
                    </a:lnR>
                    <a:lnT>
                      <a:noFill/>
                    </a:lnT>
                    <a:lnB>
                      <a:noFill/>
                    </a:lnB>
                  </a:tcPr>
                </a:tc>
                <a:tc>
                  <a:txBody>
                    <a:bodyPr/>
                    <a:lstStyle/>
                    <a:p>
                      <a:r>
                        <a:rPr lang="en-IN">
                          <a:latin typeface="Times New Roman" pitchFamily="18" charset="0"/>
                          <a:cs typeface="Times New Roman" pitchFamily="18" charset="0"/>
                        </a:rPr>
                        <a:t>Regular-expression processing, </a:t>
                      </a:r>
                      <a:r>
                        <a:rPr lang="el-GR">
                          <a:latin typeface="Times New Roman" pitchFamily="18" charset="0"/>
                          <a:cs typeface="Times New Roman" pitchFamily="18" charset="0"/>
                        </a:rPr>
                        <a:t>ε-</a:t>
                      </a:r>
                      <a:r>
                        <a:rPr lang="en-IN">
                          <a:latin typeface="Times New Roman" pitchFamily="18" charset="0"/>
                          <a:cs typeface="Times New Roman" pitchFamily="18" charset="0"/>
                        </a:rPr>
                        <a:t>NFA construction, </a:t>
                      </a:r>
                      <a:r>
                        <a:rPr lang="el-GR">
                          <a:latin typeface="Times New Roman" pitchFamily="18" charset="0"/>
                          <a:cs typeface="Times New Roman" pitchFamily="18" charset="0"/>
                        </a:rPr>
                        <a:t>ε-</a:t>
                      </a:r>
                      <a:r>
                        <a:rPr lang="en-IN">
                          <a:latin typeface="Times New Roman" pitchFamily="18" charset="0"/>
                          <a:cs typeface="Times New Roman" pitchFamily="18" charset="0"/>
                        </a:rPr>
                        <a:t>closure calculation, NFA-to-DFA conversion, DFA minimization, and string acceptance/rejection verification.</a:t>
                      </a:r>
                    </a:p>
                  </a:txBody>
                  <a:tcPr anchor="ctr">
                    <a:lnL>
                      <a:noFill/>
                    </a:lnL>
                    <a:lnR>
                      <a:noFill/>
                    </a:lnR>
                    <a:lnT>
                      <a:noFill/>
                    </a:lnT>
                    <a:lnB>
                      <a:noFill/>
                    </a:lnB>
                  </a:tcPr>
                </a:tc>
              </a:tr>
              <a:tr h="0">
                <a:tc>
                  <a:txBody>
                    <a:bodyPr/>
                    <a:lstStyle/>
                    <a:p>
                      <a:r>
                        <a:rPr lang="en-IN" b="1" dirty="0">
                          <a:latin typeface="Times New Roman" pitchFamily="18" charset="0"/>
                          <a:cs typeface="Times New Roman" pitchFamily="18" charset="0"/>
                        </a:rPr>
                        <a:t>MOD 3 – Backend &amp; Database</a:t>
                      </a:r>
                      <a:endParaRPr lang="en-IN" dirty="0">
                        <a:latin typeface="Times New Roman" pitchFamily="18" charset="0"/>
                        <a:cs typeface="Times New Roman" pitchFamily="18" charset="0"/>
                      </a:endParaRPr>
                    </a:p>
                  </a:txBody>
                  <a:tcPr anchor="ctr">
                    <a:lnL>
                      <a:noFill/>
                    </a:lnL>
                    <a:lnR>
                      <a:noFill/>
                    </a:lnR>
                    <a:lnT>
                      <a:noFill/>
                    </a:lnT>
                    <a:lnB>
                      <a:noFill/>
                    </a:lnB>
                  </a:tcPr>
                </a:tc>
                <a:tc>
                  <a:txBody>
                    <a:bodyPr/>
                    <a:lstStyle/>
                    <a:p>
                      <a:r>
                        <a:rPr lang="en-US">
                          <a:latin typeface="Times New Roman" pitchFamily="18" charset="0"/>
                          <a:cs typeface="Times New Roman" pitchFamily="18" charset="0"/>
                        </a:rPr>
                        <a:t>API communication, authentication, project management, database storage, automata and test-result management, data validation, and error handling.</a:t>
                      </a:r>
                    </a:p>
                  </a:txBody>
                  <a:tcPr anchor="ctr">
                    <a:lnL>
                      <a:noFill/>
                    </a:lnL>
                    <a:lnR>
                      <a:noFill/>
                    </a:lnR>
                    <a:lnT>
                      <a:noFill/>
                    </a:lnT>
                    <a:lnB>
                      <a:noFill/>
                    </a:lnB>
                  </a:tcPr>
                </a:tc>
              </a:tr>
              <a:tr h="0">
                <a:tc>
                  <a:txBody>
                    <a:bodyPr/>
                    <a:lstStyle/>
                    <a:p>
                      <a:r>
                        <a:rPr lang="en-US" b="1">
                          <a:latin typeface="Times New Roman" pitchFamily="18" charset="0"/>
                          <a:cs typeface="Times New Roman" pitchFamily="18" charset="0"/>
                        </a:rPr>
                        <a:t>MOD 4 – Reports, Analytics &amp; Testing</a:t>
                      </a:r>
                      <a:endParaRPr lang="en-US">
                        <a:latin typeface="Times New Roman" pitchFamily="18" charset="0"/>
                        <a:cs typeface="Times New Roman" pitchFamily="18" charset="0"/>
                      </a:endParaRPr>
                    </a:p>
                  </a:txBody>
                  <a:tcPr anchor="ctr">
                    <a:lnL>
                      <a:noFill/>
                    </a:lnL>
                    <a:lnR>
                      <a:noFill/>
                    </a:lnR>
                    <a:lnT>
                      <a:noFill/>
                    </a:lnT>
                    <a:lnB>
                      <a:noFill/>
                    </a:lnB>
                  </a:tcPr>
                </a:tc>
                <a:tc>
                  <a:txBody>
                    <a:bodyPr/>
                    <a:lstStyle/>
                    <a:p>
                      <a:r>
                        <a:rPr lang="en-US" dirty="0">
                          <a:latin typeface="Times New Roman" pitchFamily="18" charset="0"/>
                          <a:cs typeface="Times New Roman" pitchFamily="18" charset="0"/>
                        </a:rPr>
                        <a:t>Verification reports, conversion results, test-case execution, verification history, analytics, performance testing, functional/integration testing, and report export.</a:t>
                      </a:r>
                    </a:p>
                  </a:txBody>
                  <a:tcPr anchor="ctr">
                    <a:lnL>
                      <a:noFill/>
                    </a:lnL>
                    <a:lnR>
                      <a:noFill/>
                    </a:lnR>
                    <a:lnT>
                      <a:noFill/>
                    </a:lnT>
                    <a:lnB>
                      <a:noFill/>
                    </a:lnB>
                  </a:tcPr>
                </a:tc>
              </a:tr>
            </a:tbl>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latin typeface="Times New Roman" pitchFamily="18" charset="0"/>
                <a:cs typeface="Times New Roman" pitchFamily="18" charset="0"/>
              </a:rPr>
              <a:t>Results &amp; Discussion</a:t>
            </a:r>
          </a:p>
        </p:txBody>
      </p:sp>
      <p:sp>
        <p:nvSpPr>
          <p:cNvPr id="3" name="Content Placeholder 2"/>
          <p:cNvSpPr>
            <a:spLocks noGrp="1"/>
          </p:cNvSpPr>
          <p:nvPr>
            <p:ph idx="1"/>
          </p:nvPr>
        </p:nvSpPr>
        <p:spPr>
          <a:xfrm>
            <a:off x="924910" y="1444213"/>
            <a:ext cx="10972800" cy="4525963"/>
          </a:xfrm>
        </p:spPr>
        <p:txBody>
          <a:bodyPr>
            <a:normAutofit/>
          </a:bodyPr>
          <a:lstStyle/>
          <a:p>
            <a:pPr marL="0" indent="0">
              <a:buNone/>
            </a:pPr>
            <a:r>
              <a:rPr lang="en-IN" sz="2000" b="1" dirty="0">
                <a:latin typeface="Times New Roman" pitchFamily="18" charset="0"/>
                <a:cs typeface="Times New Roman" pitchFamily="18" charset="0"/>
              </a:rPr>
              <a:t>Outcomes of the Project</a:t>
            </a:r>
          </a:p>
          <a:p>
            <a:pPr marL="0" indent="0">
              <a:buNone/>
            </a:pPr>
            <a:r>
              <a:rPr lang="en-IN" sz="2000" dirty="0" smtClean="0">
                <a:latin typeface="Times New Roman" pitchFamily="18" charset="0"/>
                <a:cs typeface="Times New Roman" pitchFamily="18" charset="0"/>
              </a:rPr>
              <a:t> </a:t>
            </a:r>
            <a:r>
              <a:rPr lang="en-IN" sz="2000" dirty="0">
                <a:latin typeface="Times New Roman" pitchFamily="18" charset="0"/>
                <a:cs typeface="Times New Roman" pitchFamily="18" charset="0"/>
              </a:rPr>
              <a:t>Successfully verifies regular languages using finite automata and regular expressions.</a:t>
            </a:r>
            <a:br>
              <a:rPr lang="en-IN" sz="2000" dirty="0">
                <a:latin typeface="Times New Roman" pitchFamily="18" charset="0"/>
                <a:cs typeface="Times New Roman" pitchFamily="18" charset="0"/>
              </a:rPr>
            </a:br>
            <a:r>
              <a:rPr lang="en-IN" sz="2000" dirty="0" smtClean="0">
                <a:latin typeface="Times New Roman" pitchFamily="18" charset="0"/>
                <a:cs typeface="Times New Roman" pitchFamily="18" charset="0"/>
              </a:rPr>
              <a:t> </a:t>
            </a:r>
            <a:r>
              <a:rPr lang="en-IN" sz="2000" dirty="0">
                <a:latin typeface="Times New Roman" pitchFamily="18" charset="0"/>
                <a:cs typeface="Times New Roman" pitchFamily="18" charset="0"/>
              </a:rPr>
              <a:t>Performs </a:t>
            </a:r>
            <a:r>
              <a:rPr lang="el-GR" sz="2000" dirty="0">
                <a:latin typeface="Times New Roman" pitchFamily="18" charset="0"/>
                <a:cs typeface="Times New Roman" pitchFamily="18" charset="0"/>
              </a:rPr>
              <a:t>ε-</a:t>
            </a:r>
            <a:r>
              <a:rPr lang="en-IN" sz="2000" dirty="0">
                <a:latin typeface="Times New Roman" pitchFamily="18" charset="0"/>
                <a:cs typeface="Times New Roman" pitchFamily="18" charset="0"/>
              </a:rPr>
              <a:t>NFA, NFA-to-DFA conversion, and DFA minimization.</a:t>
            </a:r>
            <a:br>
              <a:rPr lang="en-IN" sz="2000" dirty="0">
                <a:latin typeface="Times New Roman" pitchFamily="18" charset="0"/>
                <a:cs typeface="Times New Roman" pitchFamily="18" charset="0"/>
              </a:rPr>
            </a:br>
            <a:r>
              <a:rPr lang="en-IN" sz="2000" dirty="0" smtClean="0">
                <a:latin typeface="Times New Roman" pitchFamily="18" charset="0"/>
                <a:cs typeface="Times New Roman" pitchFamily="18" charset="0"/>
              </a:rPr>
              <a:t> </a:t>
            </a:r>
            <a:r>
              <a:rPr lang="en-IN" sz="2000" dirty="0">
                <a:latin typeface="Times New Roman" pitchFamily="18" charset="0"/>
                <a:cs typeface="Times New Roman" pitchFamily="18" charset="0"/>
              </a:rPr>
              <a:t>Tests input strings and accurately identifies accepted or rejected strings.</a:t>
            </a:r>
            <a:br>
              <a:rPr lang="en-IN" sz="2000" dirty="0">
                <a:latin typeface="Times New Roman" pitchFamily="18" charset="0"/>
                <a:cs typeface="Times New Roman" pitchFamily="18" charset="0"/>
              </a:rPr>
            </a:br>
            <a:r>
              <a:rPr lang="en-IN" sz="2000" dirty="0" smtClean="0">
                <a:latin typeface="Times New Roman" pitchFamily="18" charset="0"/>
                <a:cs typeface="Times New Roman" pitchFamily="18" charset="0"/>
              </a:rPr>
              <a:t> </a:t>
            </a:r>
            <a:r>
              <a:rPr lang="en-IN" sz="2000" dirty="0">
                <a:latin typeface="Times New Roman" pitchFamily="18" charset="0"/>
                <a:cs typeface="Times New Roman" pitchFamily="18" charset="0"/>
              </a:rPr>
              <a:t>Provides interactive automata visualization and verification results.</a:t>
            </a:r>
            <a:br>
              <a:rPr lang="en-IN" sz="2000" dirty="0">
                <a:latin typeface="Times New Roman" pitchFamily="18" charset="0"/>
                <a:cs typeface="Times New Roman" pitchFamily="18" charset="0"/>
              </a:rPr>
            </a:br>
            <a:r>
              <a:rPr lang="en-IN" sz="2000" dirty="0" smtClean="0">
                <a:latin typeface="Times New Roman" pitchFamily="18" charset="0"/>
                <a:cs typeface="Times New Roman" pitchFamily="18" charset="0"/>
              </a:rPr>
              <a:t> </a:t>
            </a:r>
            <a:r>
              <a:rPr lang="en-IN" sz="2000" dirty="0">
                <a:latin typeface="Times New Roman" pitchFamily="18" charset="0"/>
                <a:cs typeface="Times New Roman" pitchFamily="18" charset="0"/>
              </a:rPr>
              <a:t>Generates verification reports, analytics, and testing results.</a:t>
            </a:r>
          </a:p>
        </p:txBody>
      </p:sp>
      <p:pic>
        <p:nvPicPr>
          <p:cNvPr id="4" name="Picture 3"/>
          <p:cNvPicPr/>
          <p:nvPr/>
        </p:nvPicPr>
        <p:blipFill>
          <a:blip r:embed="rId2" cstate="print">
            <a:extLst>
              <a:ext uri="{28A0092B-C50C-407E-A947-70E740481C1C}">
                <a14:useLocalDpi xmlns:a14="http://schemas.microsoft.com/office/drawing/2010/main" val="0"/>
              </a:ext>
            </a:extLst>
          </a:blip>
          <a:srcRect/>
          <a:stretch>
            <a:fillRect/>
          </a:stretch>
        </p:blipFill>
        <p:spPr>
          <a:xfrm>
            <a:off x="357352" y="191626"/>
            <a:ext cx="1135117" cy="1342884"/>
          </a:xfrm>
          <a:prstGeom prst="rect">
            <a:avLst/>
          </a:prstGeom>
          <a:noFill/>
        </p:spPr>
      </p:pic>
      <p:pic>
        <p:nvPicPr>
          <p:cNvPr id="5" name="Picture 4"/>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191626"/>
            <a:ext cx="1520114" cy="1342884"/>
          </a:xfrm>
          <a:prstGeom prst="rect">
            <a:avLst/>
          </a:prstGeom>
          <a:noFill/>
          <a:ln>
            <a:noFill/>
          </a:ln>
        </p:spPr>
      </p:pic>
      <p:graphicFrame>
        <p:nvGraphicFramePr>
          <p:cNvPr id="6" name="Table 5"/>
          <p:cNvGraphicFramePr>
            <a:graphicFrameLocks noGrp="1"/>
          </p:cNvGraphicFramePr>
          <p:nvPr>
            <p:extLst>
              <p:ext uri="{D42A27DB-BD31-4B8C-83A1-F6EECF244321}">
                <p14:modId xmlns:p14="http://schemas.microsoft.com/office/powerpoint/2010/main" val="2799953784"/>
              </p:ext>
            </p:extLst>
          </p:nvPr>
        </p:nvGraphicFramePr>
        <p:xfrm>
          <a:off x="609600" y="3276889"/>
          <a:ext cx="10972800" cy="4023360"/>
        </p:xfrm>
        <a:graphic>
          <a:graphicData uri="http://schemas.openxmlformats.org/drawingml/2006/table">
            <a:tbl>
              <a:tblPr/>
              <a:tblGrid>
                <a:gridCol w="3657600"/>
                <a:gridCol w="3657600"/>
                <a:gridCol w="3657600"/>
              </a:tblGrid>
              <a:tr h="0">
                <a:tc>
                  <a:txBody>
                    <a:bodyPr/>
                    <a:lstStyle/>
                    <a:p>
                      <a:r>
                        <a:rPr lang="en-IN" b="1" dirty="0"/>
                        <a:t>Feature</a:t>
                      </a:r>
                      <a:endParaRPr lang="en-IN" dirty="0"/>
                    </a:p>
                  </a:txBody>
                  <a:tcPr anchor="ctr">
                    <a:lnL>
                      <a:noFill/>
                    </a:lnL>
                    <a:lnR>
                      <a:noFill/>
                    </a:lnR>
                    <a:lnT>
                      <a:noFill/>
                    </a:lnT>
                    <a:lnB>
                      <a:noFill/>
                    </a:lnB>
                  </a:tcPr>
                </a:tc>
                <a:tc>
                  <a:txBody>
                    <a:bodyPr/>
                    <a:lstStyle/>
                    <a:p>
                      <a:r>
                        <a:rPr lang="en-IN" b="1"/>
                        <a:t>Existing Tools</a:t>
                      </a:r>
                      <a:endParaRPr lang="en-IN"/>
                    </a:p>
                  </a:txBody>
                  <a:tcPr anchor="ctr">
                    <a:lnL>
                      <a:noFill/>
                    </a:lnL>
                    <a:lnR>
                      <a:noFill/>
                    </a:lnR>
                    <a:lnT>
                      <a:noFill/>
                    </a:lnT>
                    <a:lnB>
                      <a:noFill/>
                    </a:lnB>
                  </a:tcPr>
                </a:tc>
                <a:tc>
                  <a:txBody>
                    <a:bodyPr/>
                    <a:lstStyle/>
                    <a:p>
                      <a:r>
                        <a:rPr lang="en-IN" b="1"/>
                        <a:t>Proposed Framework</a:t>
                      </a:r>
                      <a:endParaRPr lang="en-IN"/>
                    </a:p>
                  </a:txBody>
                  <a:tcPr anchor="ctr">
                    <a:lnL>
                      <a:noFill/>
                    </a:lnL>
                    <a:lnR>
                      <a:noFill/>
                    </a:lnR>
                    <a:lnT>
                      <a:noFill/>
                    </a:lnT>
                    <a:lnB>
                      <a:noFill/>
                    </a:lnB>
                  </a:tcPr>
                </a:tc>
              </a:tr>
              <a:tr h="0">
                <a:tc>
                  <a:txBody>
                    <a:bodyPr/>
                    <a:lstStyle/>
                    <a:p>
                      <a:r>
                        <a:rPr lang="en-IN" b="1" dirty="0"/>
                        <a:t>Regular Expression Processing</a:t>
                      </a:r>
                      <a:endParaRPr lang="en-IN" dirty="0"/>
                    </a:p>
                  </a:txBody>
                  <a:tcPr anchor="ctr">
                    <a:lnL>
                      <a:noFill/>
                    </a:lnL>
                    <a:lnR>
                      <a:noFill/>
                    </a:lnR>
                    <a:lnT>
                      <a:noFill/>
                    </a:lnT>
                    <a:lnB>
                      <a:noFill/>
                    </a:lnB>
                  </a:tcPr>
                </a:tc>
                <a:tc>
                  <a:txBody>
                    <a:bodyPr/>
                    <a:lstStyle/>
                    <a:p>
                      <a:r>
                        <a:rPr lang="en-IN"/>
                        <a:t>✓</a:t>
                      </a:r>
                    </a:p>
                  </a:txBody>
                  <a:tcPr anchor="ctr">
                    <a:lnL>
                      <a:noFill/>
                    </a:lnL>
                    <a:lnR>
                      <a:noFill/>
                    </a:lnR>
                    <a:lnT>
                      <a:noFill/>
                    </a:lnT>
                    <a:lnB>
                      <a:noFill/>
                    </a:lnB>
                  </a:tcPr>
                </a:tc>
                <a:tc>
                  <a:txBody>
                    <a:bodyPr/>
                    <a:lstStyle/>
                    <a:p>
                      <a:r>
                        <a:rPr lang="en-IN"/>
                        <a:t>✓</a:t>
                      </a:r>
                    </a:p>
                  </a:txBody>
                  <a:tcPr anchor="ctr">
                    <a:lnL>
                      <a:noFill/>
                    </a:lnL>
                    <a:lnR>
                      <a:noFill/>
                    </a:lnR>
                    <a:lnT>
                      <a:noFill/>
                    </a:lnT>
                    <a:lnB>
                      <a:noFill/>
                    </a:lnB>
                  </a:tcPr>
                </a:tc>
              </a:tr>
              <a:tr h="0">
                <a:tc>
                  <a:txBody>
                    <a:bodyPr/>
                    <a:lstStyle/>
                    <a:p>
                      <a:r>
                        <a:rPr lang="en-IN" b="1"/>
                        <a:t>Automata Construction</a:t>
                      </a:r>
                      <a:endParaRPr lang="en-IN"/>
                    </a:p>
                  </a:txBody>
                  <a:tcPr anchor="ctr">
                    <a:lnL>
                      <a:noFill/>
                    </a:lnL>
                    <a:lnR>
                      <a:noFill/>
                    </a:lnR>
                    <a:lnT>
                      <a:noFill/>
                    </a:lnT>
                    <a:lnB>
                      <a:noFill/>
                    </a:lnB>
                  </a:tcPr>
                </a:tc>
                <a:tc>
                  <a:txBody>
                    <a:bodyPr/>
                    <a:lstStyle/>
                    <a:p>
                      <a:r>
                        <a:rPr lang="en-IN"/>
                        <a:t>✓</a:t>
                      </a:r>
                    </a:p>
                  </a:txBody>
                  <a:tcPr anchor="ctr">
                    <a:lnL>
                      <a:noFill/>
                    </a:lnL>
                    <a:lnR>
                      <a:noFill/>
                    </a:lnR>
                    <a:lnT>
                      <a:noFill/>
                    </a:lnT>
                    <a:lnB>
                      <a:noFill/>
                    </a:lnB>
                  </a:tcPr>
                </a:tc>
                <a:tc>
                  <a:txBody>
                    <a:bodyPr/>
                    <a:lstStyle/>
                    <a:p>
                      <a:r>
                        <a:rPr lang="en-IN" dirty="0"/>
                        <a:t>✓</a:t>
                      </a:r>
                    </a:p>
                  </a:txBody>
                  <a:tcPr anchor="ctr">
                    <a:lnL>
                      <a:noFill/>
                    </a:lnL>
                    <a:lnR>
                      <a:noFill/>
                    </a:lnR>
                    <a:lnT>
                      <a:noFill/>
                    </a:lnT>
                    <a:lnB>
                      <a:noFill/>
                    </a:lnB>
                  </a:tcPr>
                </a:tc>
              </a:tr>
              <a:tr h="0">
                <a:tc>
                  <a:txBody>
                    <a:bodyPr/>
                    <a:lstStyle/>
                    <a:p>
                      <a:r>
                        <a:rPr lang="el-GR" b="1"/>
                        <a:t>ε-</a:t>
                      </a:r>
                      <a:r>
                        <a:rPr lang="en-IN" b="1"/>
                        <a:t>Closure Calculation</a:t>
                      </a:r>
                      <a:endParaRPr lang="en-IN"/>
                    </a:p>
                  </a:txBody>
                  <a:tcPr anchor="ctr">
                    <a:lnL>
                      <a:noFill/>
                    </a:lnL>
                    <a:lnR>
                      <a:noFill/>
                    </a:lnR>
                    <a:lnT>
                      <a:noFill/>
                    </a:lnT>
                    <a:lnB>
                      <a:noFill/>
                    </a:lnB>
                  </a:tcPr>
                </a:tc>
                <a:tc>
                  <a:txBody>
                    <a:bodyPr/>
                    <a:lstStyle/>
                    <a:p>
                      <a:r>
                        <a:rPr lang="en-IN"/>
                        <a:t>Limited</a:t>
                      </a:r>
                    </a:p>
                  </a:txBody>
                  <a:tcPr anchor="ctr">
                    <a:lnL>
                      <a:noFill/>
                    </a:lnL>
                    <a:lnR>
                      <a:noFill/>
                    </a:lnR>
                    <a:lnT>
                      <a:noFill/>
                    </a:lnT>
                    <a:lnB>
                      <a:noFill/>
                    </a:lnB>
                  </a:tcPr>
                </a:tc>
                <a:tc>
                  <a:txBody>
                    <a:bodyPr/>
                    <a:lstStyle/>
                    <a:p>
                      <a:r>
                        <a:rPr lang="en-IN"/>
                        <a:t>✓</a:t>
                      </a:r>
                    </a:p>
                  </a:txBody>
                  <a:tcPr anchor="ctr">
                    <a:lnL>
                      <a:noFill/>
                    </a:lnL>
                    <a:lnR>
                      <a:noFill/>
                    </a:lnR>
                    <a:lnT>
                      <a:noFill/>
                    </a:lnT>
                    <a:lnB>
                      <a:noFill/>
                    </a:lnB>
                  </a:tcPr>
                </a:tc>
              </a:tr>
              <a:tr h="0">
                <a:tc>
                  <a:txBody>
                    <a:bodyPr/>
                    <a:lstStyle/>
                    <a:p>
                      <a:r>
                        <a:rPr lang="en-IN" b="1"/>
                        <a:t>NFA to DFA Conversion</a:t>
                      </a:r>
                      <a:endParaRPr lang="en-IN"/>
                    </a:p>
                  </a:txBody>
                  <a:tcPr anchor="ctr">
                    <a:lnL>
                      <a:noFill/>
                    </a:lnL>
                    <a:lnR>
                      <a:noFill/>
                    </a:lnR>
                    <a:lnT>
                      <a:noFill/>
                    </a:lnT>
                    <a:lnB>
                      <a:noFill/>
                    </a:lnB>
                  </a:tcPr>
                </a:tc>
                <a:tc>
                  <a:txBody>
                    <a:bodyPr/>
                    <a:lstStyle/>
                    <a:p>
                      <a:r>
                        <a:rPr lang="en-IN"/>
                        <a:t>✓</a:t>
                      </a:r>
                    </a:p>
                  </a:txBody>
                  <a:tcPr anchor="ctr">
                    <a:lnL>
                      <a:noFill/>
                    </a:lnL>
                    <a:lnR>
                      <a:noFill/>
                    </a:lnR>
                    <a:lnT>
                      <a:noFill/>
                    </a:lnT>
                    <a:lnB>
                      <a:noFill/>
                    </a:lnB>
                  </a:tcPr>
                </a:tc>
                <a:tc>
                  <a:txBody>
                    <a:bodyPr/>
                    <a:lstStyle/>
                    <a:p>
                      <a:r>
                        <a:rPr lang="en-IN"/>
                        <a:t>✓</a:t>
                      </a:r>
                    </a:p>
                  </a:txBody>
                  <a:tcPr anchor="ctr">
                    <a:lnL>
                      <a:noFill/>
                    </a:lnL>
                    <a:lnR>
                      <a:noFill/>
                    </a:lnR>
                    <a:lnT>
                      <a:noFill/>
                    </a:lnT>
                    <a:lnB>
                      <a:noFill/>
                    </a:lnB>
                  </a:tcPr>
                </a:tc>
              </a:tr>
              <a:tr h="0">
                <a:tc>
                  <a:txBody>
                    <a:bodyPr/>
                    <a:lstStyle/>
                    <a:p>
                      <a:r>
                        <a:rPr lang="en-IN" b="1"/>
                        <a:t>DFA Minimization</a:t>
                      </a:r>
                      <a:endParaRPr lang="en-IN"/>
                    </a:p>
                  </a:txBody>
                  <a:tcPr anchor="ctr">
                    <a:lnL>
                      <a:noFill/>
                    </a:lnL>
                    <a:lnR>
                      <a:noFill/>
                    </a:lnR>
                    <a:lnT>
                      <a:noFill/>
                    </a:lnT>
                    <a:lnB>
                      <a:noFill/>
                    </a:lnB>
                  </a:tcPr>
                </a:tc>
                <a:tc>
                  <a:txBody>
                    <a:bodyPr/>
                    <a:lstStyle/>
                    <a:p>
                      <a:r>
                        <a:rPr lang="en-IN"/>
                        <a:t>Limited</a:t>
                      </a:r>
                    </a:p>
                  </a:txBody>
                  <a:tcPr anchor="ctr">
                    <a:lnL>
                      <a:noFill/>
                    </a:lnL>
                    <a:lnR>
                      <a:noFill/>
                    </a:lnR>
                    <a:lnT>
                      <a:noFill/>
                    </a:lnT>
                    <a:lnB>
                      <a:noFill/>
                    </a:lnB>
                  </a:tcPr>
                </a:tc>
                <a:tc>
                  <a:txBody>
                    <a:bodyPr/>
                    <a:lstStyle/>
                    <a:p>
                      <a:r>
                        <a:rPr lang="en-IN"/>
                        <a:t>✓</a:t>
                      </a:r>
                    </a:p>
                  </a:txBody>
                  <a:tcPr anchor="ctr">
                    <a:lnL>
                      <a:noFill/>
                    </a:lnL>
                    <a:lnR>
                      <a:noFill/>
                    </a:lnR>
                    <a:lnT>
                      <a:noFill/>
                    </a:lnT>
                    <a:lnB>
                      <a:noFill/>
                    </a:lnB>
                  </a:tcPr>
                </a:tc>
              </a:tr>
              <a:tr h="0">
                <a:tc>
                  <a:txBody>
                    <a:bodyPr/>
                    <a:lstStyle/>
                    <a:p>
                      <a:r>
                        <a:rPr lang="en-IN" b="1"/>
                        <a:t>String Verification</a:t>
                      </a:r>
                      <a:endParaRPr lang="en-IN"/>
                    </a:p>
                  </a:txBody>
                  <a:tcPr anchor="ctr">
                    <a:lnL>
                      <a:noFill/>
                    </a:lnL>
                    <a:lnR>
                      <a:noFill/>
                    </a:lnR>
                    <a:lnT>
                      <a:noFill/>
                    </a:lnT>
                    <a:lnB>
                      <a:noFill/>
                    </a:lnB>
                  </a:tcPr>
                </a:tc>
                <a:tc>
                  <a:txBody>
                    <a:bodyPr/>
                    <a:lstStyle/>
                    <a:p>
                      <a:r>
                        <a:rPr lang="en-IN"/>
                        <a:t>✓</a:t>
                      </a:r>
                    </a:p>
                  </a:txBody>
                  <a:tcPr anchor="ctr">
                    <a:lnL>
                      <a:noFill/>
                    </a:lnL>
                    <a:lnR>
                      <a:noFill/>
                    </a:lnR>
                    <a:lnT>
                      <a:noFill/>
                    </a:lnT>
                    <a:lnB>
                      <a:noFill/>
                    </a:lnB>
                  </a:tcPr>
                </a:tc>
                <a:tc>
                  <a:txBody>
                    <a:bodyPr/>
                    <a:lstStyle/>
                    <a:p>
                      <a:r>
                        <a:rPr lang="en-IN"/>
                        <a:t>✓</a:t>
                      </a:r>
                    </a:p>
                  </a:txBody>
                  <a:tcPr anchor="ctr">
                    <a:lnL>
                      <a:noFill/>
                    </a:lnL>
                    <a:lnR>
                      <a:noFill/>
                    </a:lnR>
                    <a:lnT>
                      <a:noFill/>
                    </a:lnT>
                    <a:lnB>
                      <a:noFill/>
                    </a:lnB>
                  </a:tcPr>
                </a:tc>
              </a:tr>
              <a:tr h="0">
                <a:tc>
                  <a:txBody>
                    <a:bodyPr/>
                    <a:lstStyle/>
                    <a:p>
                      <a:r>
                        <a:rPr lang="en-IN" b="1"/>
                        <a:t>Automata Visualization</a:t>
                      </a:r>
                      <a:endParaRPr lang="en-IN"/>
                    </a:p>
                  </a:txBody>
                  <a:tcPr anchor="ctr">
                    <a:lnL>
                      <a:noFill/>
                    </a:lnL>
                    <a:lnR>
                      <a:noFill/>
                    </a:lnR>
                    <a:lnT>
                      <a:noFill/>
                    </a:lnT>
                    <a:lnB>
                      <a:noFill/>
                    </a:lnB>
                  </a:tcPr>
                </a:tc>
                <a:tc>
                  <a:txBody>
                    <a:bodyPr/>
                    <a:lstStyle/>
                    <a:p>
                      <a:r>
                        <a:rPr lang="en-IN"/>
                        <a:t>Limited</a:t>
                      </a:r>
                    </a:p>
                  </a:txBody>
                  <a:tcPr anchor="ctr">
                    <a:lnL>
                      <a:noFill/>
                    </a:lnL>
                    <a:lnR>
                      <a:noFill/>
                    </a:lnR>
                    <a:lnT>
                      <a:noFill/>
                    </a:lnT>
                    <a:lnB>
                      <a:noFill/>
                    </a:lnB>
                  </a:tcPr>
                </a:tc>
                <a:tc>
                  <a:txBody>
                    <a:bodyPr/>
                    <a:lstStyle/>
                    <a:p>
                      <a:r>
                        <a:rPr lang="en-IN"/>
                        <a:t>✓</a:t>
                      </a:r>
                    </a:p>
                  </a:txBody>
                  <a:tcPr anchor="ctr">
                    <a:lnL>
                      <a:noFill/>
                    </a:lnL>
                    <a:lnR>
                      <a:noFill/>
                    </a:lnR>
                    <a:lnT>
                      <a:noFill/>
                    </a:lnT>
                    <a:lnB>
                      <a:noFill/>
                    </a:lnB>
                  </a:tcPr>
                </a:tc>
              </a:tr>
              <a:tr h="0">
                <a:tc>
                  <a:txBody>
                    <a:bodyPr/>
                    <a:lstStyle/>
                    <a:p>
                      <a:endParaRPr lang="en-IN" dirty="0"/>
                    </a:p>
                  </a:txBody>
                  <a:tcPr anchor="ctr">
                    <a:lnL>
                      <a:noFill/>
                    </a:lnL>
                    <a:lnR>
                      <a:noFill/>
                    </a:lnR>
                    <a:lnT>
                      <a:noFill/>
                    </a:lnT>
                    <a:lnB>
                      <a:noFill/>
                    </a:lnB>
                  </a:tcPr>
                </a:tc>
                <a:tc>
                  <a:txBody>
                    <a:bodyPr/>
                    <a:lstStyle/>
                    <a:p>
                      <a:endParaRPr lang="en-IN" dirty="0"/>
                    </a:p>
                  </a:txBody>
                  <a:tcPr anchor="ctr">
                    <a:lnL>
                      <a:noFill/>
                    </a:lnL>
                    <a:lnR>
                      <a:noFill/>
                    </a:lnR>
                    <a:lnT>
                      <a:noFill/>
                    </a:lnT>
                    <a:lnB>
                      <a:noFill/>
                    </a:lnB>
                  </a:tcPr>
                </a:tc>
                <a:tc>
                  <a:txBody>
                    <a:bodyPr/>
                    <a:lstStyle/>
                    <a:p>
                      <a:endParaRPr lang="en-IN"/>
                    </a:p>
                  </a:txBody>
                  <a:tcPr anchor="ctr">
                    <a:lnL>
                      <a:noFill/>
                    </a:lnL>
                    <a:lnR>
                      <a:noFill/>
                    </a:lnR>
                    <a:lnT>
                      <a:noFill/>
                    </a:lnT>
                    <a:lnB>
                      <a:noFill/>
                    </a:lnB>
                  </a:tcPr>
                </a:tc>
              </a:tr>
              <a:tr h="0">
                <a:tc>
                  <a:txBody>
                    <a:bodyPr/>
                    <a:lstStyle/>
                    <a:p>
                      <a:endParaRPr lang="en-IN"/>
                    </a:p>
                  </a:txBody>
                  <a:tcPr anchor="ctr">
                    <a:lnL>
                      <a:noFill/>
                    </a:lnL>
                    <a:lnR>
                      <a:noFill/>
                    </a:lnR>
                    <a:lnT>
                      <a:noFill/>
                    </a:lnT>
                    <a:lnB>
                      <a:noFill/>
                    </a:lnB>
                  </a:tcPr>
                </a:tc>
                <a:tc>
                  <a:txBody>
                    <a:bodyPr/>
                    <a:lstStyle/>
                    <a:p>
                      <a:endParaRPr lang="en-IN"/>
                    </a:p>
                  </a:txBody>
                  <a:tcPr anchor="ctr">
                    <a:lnL>
                      <a:noFill/>
                    </a:lnL>
                    <a:lnR>
                      <a:noFill/>
                    </a:lnR>
                    <a:lnT>
                      <a:noFill/>
                    </a:lnT>
                    <a:lnB>
                      <a:noFill/>
                    </a:lnB>
                  </a:tcPr>
                </a:tc>
                <a:tc>
                  <a:txBody>
                    <a:bodyPr/>
                    <a:lstStyle/>
                    <a:p>
                      <a:endParaRPr lang="en-IN"/>
                    </a:p>
                  </a:txBody>
                  <a:tcPr anchor="ctr">
                    <a:lnL>
                      <a:noFill/>
                    </a:lnL>
                    <a:lnR>
                      <a:noFill/>
                    </a:lnR>
                    <a:lnT>
                      <a:noFill/>
                    </a:lnT>
                    <a:lnB>
                      <a:noFill/>
                    </a:lnB>
                  </a:tcPr>
                </a:tc>
              </a:tr>
              <a:tr h="0">
                <a:tc>
                  <a:txBody>
                    <a:bodyPr/>
                    <a:lstStyle/>
                    <a:p>
                      <a:endParaRPr lang="en-IN" dirty="0"/>
                    </a:p>
                  </a:txBody>
                  <a:tcPr anchor="ctr">
                    <a:lnL>
                      <a:noFill/>
                    </a:lnL>
                    <a:lnR>
                      <a:noFill/>
                    </a:lnR>
                    <a:lnT>
                      <a:noFill/>
                    </a:lnT>
                    <a:lnB>
                      <a:noFill/>
                    </a:lnB>
                  </a:tcPr>
                </a:tc>
                <a:tc>
                  <a:txBody>
                    <a:bodyPr/>
                    <a:lstStyle/>
                    <a:p>
                      <a:endParaRPr lang="en-IN"/>
                    </a:p>
                  </a:txBody>
                  <a:tcPr anchor="ctr">
                    <a:lnL>
                      <a:noFill/>
                    </a:lnL>
                    <a:lnR>
                      <a:noFill/>
                    </a:lnR>
                    <a:lnT>
                      <a:noFill/>
                    </a:lnT>
                    <a:lnB>
                      <a:noFill/>
                    </a:lnB>
                  </a:tcPr>
                </a:tc>
                <a:tc>
                  <a:txBody>
                    <a:bodyPr/>
                    <a:lstStyle/>
                    <a:p>
                      <a:endParaRPr lang="en-IN" dirty="0"/>
                    </a:p>
                  </a:txBody>
                  <a:tcPr anchor="ctr">
                    <a:lnL>
                      <a:noFill/>
                    </a:lnL>
                    <a:lnR>
                      <a:noFill/>
                    </a:lnR>
                    <a:lnT>
                      <a:noFill/>
                    </a:lnT>
                    <a:lnB>
                      <a:noFill/>
                    </a:lnB>
                  </a:tcPr>
                </a:tc>
              </a:tr>
            </a:tbl>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itchFamily="18" charset="0"/>
                <a:cs typeface="Times New Roman" pitchFamily="18" charset="0"/>
              </a:rPr>
              <a:t>Challenges &amp; Limitations</a:t>
            </a:r>
          </a:p>
        </p:txBody>
      </p:sp>
      <p:sp>
        <p:nvSpPr>
          <p:cNvPr id="3" name="Content Placeholder 2"/>
          <p:cNvSpPr>
            <a:spLocks noGrp="1"/>
          </p:cNvSpPr>
          <p:nvPr>
            <p:ph idx="1"/>
          </p:nvPr>
        </p:nvSpPr>
        <p:spPr>
          <a:xfrm>
            <a:off x="609600" y="1600201"/>
            <a:ext cx="10972800" cy="4922519"/>
          </a:xfrm>
        </p:spPr>
        <p:txBody>
          <a:bodyPr>
            <a:noAutofit/>
          </a:bodyPr>
          <a:lstStyle/>
          <a:p>
            <a:pPr marL="0" indent="0">
              <a:buNone/>
            </a:pPr>
            <a:r>
              <a:rPr lang="en-IN" sz="2400" b="1" dirty="0" smtClean="0">
                <a:latin typeface="Times New Roman" pitchFamily="18" charset="0"/>
                <a:cs typeface="Times New Roman" pitchFamily="18" charset="0"/>
              </a:rPr>
              <a:t>Issues </a:t>
            </a:r>
            <a:r>
              <a:rPr lang="en-IN" sz="2400" b="1" dirty="0">
                <a:latin typeface="Times New Roman" pitchFamily="18" charset="0"/>
                <a:cs typeface="Times New Roman" pitchFamily="18" charset="0"/>
              </a:rPr>
              <a:t>Faced During Development</a:t>
            </a:r>
          </a:p>
          <a:p>
            <a:pPr marL="0" indent="0">
              <a:buNone/>
            </a:pPr>
            <a:r>
              <a:rPr lang="en-IN" sz="2000" dirty="0" smtClean="0">
                <a:latin typeface="Times New Roman" pitchFamily="18" charset="0"/>
                <a:cs typeface="Times New Roman" pitchFamily="18" charset="0"/>
              </a:rPr>
              <a:t> </a:t>
            </a:r>
            <a:r>
              <a:rPr lang="en-IN" sz="2000" dirty="0">
                <a:latin typeface="Times New Roman" pitchFamily="18" charset="0"/>
                <a:cs typeface="Times New Roman" pitchFamily="18" charset="0"/>
              </a:rPr>
              <a:t>Handling different regular-expression formats and validating user inputs.</a:t>
            </a:r>
            <a:br>
              <a:rPr lang="en-IN" sz="2000" dirty="0">
                <a:latin typeface="Times New Roman" pitchFamily="18" charset="0"/>
                <a:cs typeface="Times New Roman" pitchFamily="18" charset="0"/>
              </a:rPr>
            </a:br>
            <a:r>
              <a:rPr lang="en-IN" sz="2000" dirty="0" smtClean="0">
                <a:latin typeface="Times New Roman" pitchFamily="18" charset="0"/>
                <a:cs typeface="Times New Roman" pitchFamily="18" charset="0"/>
              </a:rPr>
              <a:t> </a:t>
            </a:r>
            <a:r>
              <a:rPr lang="en-IN" sz="2000" dirty="0">
                <a:latin typeface="Times New Roman" pitchFamily="18" charset="0"/>
                <a:cs typeface="Times New Roman" pitchFamily="18" charset="0"/>
              </a:rPr>
              <a:t>Implementing correct </a:t>
            </a:r>
            <a:r>
              <a:rPr lang="el-GR" sz="2000" dirty="0">
                <a:latin typeface="Times New Roman" pitchFamily="18" charset="0"/>
                <a:cs typeface="Times New Roman" pitchFamily="18" charset="0"/>
              </a:rPr>
              <a:t>ε-</a:t>
            </a:r>
            <a:r>
              <a:rPr lang="en-IN" sz="2000" dirty="0">
                <a:latin typeface="Times New Roman" pitchFamily="18" charset="0"/>
                <a:cs typeface="Times New Roman" pitchFamily="18" charset="0"/>
              </a:rPr>
              <a:t>closure and automata conversion operations.</a:t>
            </a:r>
            <a:br>
              <a:rPr lang="en-IN" sz="2000" dirty="0">
                <a:latin typeface="Times New Roman" pitchFamily="18" charset="0"/>
                <a:cs typeface="Times New Roman" pitchFamily="18" charset="0"/>
              </a:rPr>
            </a:br>
            <a:r>
              <a:rPr lang="en-IN" sz="2000" dirty="0" smtClean="0">
                <a:latin typeface="Times New Roman" pitchFamily="18" charset="0"/>
                <a:cs typeface="Times New Roman" pitchFamily="18" charset="0"/>
              </a:rPr>
              <a:t> </a:t>
            </a:r>
            <a:r>
              <a:rPr lang="en-IN" sz="2000" dirty="0">
                <a:latin typeface="Times New Roman" pitchFamily="18" charset="0"/>
                <a:cs typeface="Times New Roman" pitchFamily="18" charset="0"/>
              </a:rPr>
              <a:t>Managing complex state transitions during NFA-to-DFA conversion.</a:t>
            </a:r>
            <a:br>
              <a:rPr lang="en-IN" sz="2000" dirty="0">
                <a:latin typeface="Times New Roman" pitchFamily="18" charset="0"/>
                <a:cs typeface="Times New Roman" pitchFamily="18" charset="0"/>
              </a:rPr>
            </a:br>
            <a:r>
              <a:rPr lang="en-IN" sz="2000" dirty="0" smtClean="0">
                <a:latin typeface="Times New Roman" pitchFamily="18" charset="0"/>
                <a:cs typeface="Times New Roman" pitchFamily="18" charset="0"/>
              </a:rPr>
              <a:t> </a:t>
            </a:r>
            <a:r>
              <a:rPr lang="en-IN" sz="2000" dirty="0">
                <a:latin typeface="Times New Roman" pitchFamily="18" charset="0"/>
                <a:cs typeface="Times New Roman" pitchFamily="18" charset="0"/>
              </a:rPr>
              <a:t>Ensuring accurate DFA minimization and string verification results.</a:t>
            </a:r>
            <a:br>
              <a:rPr lang="en-IN" sz="2000" dirty="0">
                <a:latin typeface="Times New Roman" pitchFamily="18" charset="0"/>
                <a:cs typeface="Times New Roman" pitchFamily="18" charset="0"/>
              </a:rPr>
            </a:br>
            <a:r>
              <a:rPr lang="en-IN" sz="2000" dirty="0" smtClean="0">
                <a:latin typeface="Times New Roman" pitchFamily="18" charset="0"/>
                <a:cs typeface="Times New Roman" pitchFamily="18" charset="0"/>
              </a:rPr>
              <a:t> </a:t>
            </a:r>
            <a:r>
              <a:rPr lang="en-IN" sz="2000" dirty="0">
                <a:latin typeface="Times New Roman" pitchFamily="18" charset="0"/>
                <a:cs typeface="Times New Roman" pitchFamily="18" charset="0"/>
              </a:rPr>
              <a:t>Integrating the verification engine, backend, database, and user interface.</a:t>
            </a:r>
            <a:br>
              <a:rPr lang="en-IN" sz="2000" dirty="0">
                <a:latin typeface="Times New Roman" pitchFamily="18" charset="0"/>
                <a:cs typeface="Times New Roman" pitchFamily="18" charset="0"/>
              </a:rPr>
            </a:br>
            <a:r>
              <a:rPr lang="en-IN" sz="2000" dirty="0" smtClean="0">
                <a:latin typeface="Times New Roman" pitchFamily="18" charset="0"/>
                <a:cs typeface="Times New Roman" pitchFamily="18" charset="0"/>
              </a:rPr>
              <a:t> </a:t>
            </a:r>
            <a:r>
              <a:rPr lang="en-IN" sz="2000" dirty="0">
                <a:latin typeface="Times New Roman" pitchFamily="18" charset="0"/>
                <a:cs typeface="Times New Roman" pitchFamily="18" charset="0"/>
              </a:rPr>
              <a:t>Testing the system with different regular expressions, automata, and input strings</a:t>
            </a:r>
            <a:r>
              <a:rPr lang="en-IN" sz="2000" dirty="0" smtClean="0">
                <a:latin typeface="Times New Roman" pitchFamily="18" charset="0"/>
                <a:cs typeface="Times New Roman" pitchFamily="18" charset="0"/>
              </a:rPr>
              <a:t>.</a:t>
            </a:r>
          </a:p>
          <a:p>
            <a:pPr marL="0" indent="0">
              <a:buNone/>
            </a:pPr>
            <a:endParaRPr lang="en-IN" sz="2000" dirty="0">
              <a:latin typeface="Times New Roman" pitchFamily="18" charset="0"/>
              <a:cs typeface="Times New Roman" pitchFamily="18" charset="0"/>
            </a:endParaRPr>
          </a:p>
          <a:p>
            <a:pPr marL="0" indent="0">
              <a:buNone/>
            </a:pPr>
            <a:r>
              <a:rPr lang="en-IN" sz="2400" b="1" dirty="0">
                <a:latin typeface="Times New Roman" pitchFamily="18" charset="0"/>
                <a:cs typeface="Times New Roman" pitchFamily="18" charset="0"/>
              </a:rPr>
              <a:t>Possible Constraints</a:t>
            </a:r>
          </a:p>
          <a:p>
            <a:pPr marL="0" indent="0">
              <a:buNone/>
            </a:pPr>
            <a:r>
              <a:rPr lang="en-IN" sz="2000" dirty="0" smtClean="0">
                <a:latin typeface="Times New Roman" pitchFamily="18" charset="0"/>
                <a:cs typeface="Times New Roman" pitchFamily="18" charset="0"/>
              </a:rPr>
              <a:t>Complex </a:t>
            </a:r>
            <a:r>
              <a:rPr lang="en-IN" sz="2000" dirty="0">
                <a:latin typeface="Times New Roman" pitchFamily="18" charset="0"/>
                <a:cs typeface="Times New Roman" pitchFamily="18" charset="0"/>
              </a:rPr>
              <a:t>regular expressions may increase processing time.</a:t>
            </a:r>
            <a:br>
              <a:rPr lang="en-IN" sz="2000" dirty="0">
                <a:latin typeface="Times New Roman" pitchFamily="18" charset="0"/>
                <a:cs typeface="Times New Roman" pitchFamily="18" charset="0"/>
              </a:rPr>
            </a:br>
            <a:r>
              <a:rPr lang="en-IN" sz="2000" dirty="0" smtClean="0">
                <a:latin typeface="Times New Roman" pitchFamily="18" charset="0"/>
                <a:cs typeface="Times New Roman" pitchFamily="18" charset="0"/>
              </a:rPr>
              <a:t> </a:t>
            </a:r>
            <a:r>
              <a:rPr lang="en-IN" sz="2000" dirty="0">
                <a:latin typeface="Times New Roman" pitchFamily="18" charset="0"/>
                <a:cs typeface="Times New Roman" pitchFamily="18" charset="0"/>
              </a:rPr>
              <a:t>Invalid or unsupported input formats may affect verification.</a:t>
            </a:r>
            <a:br>
              <a:rPr lang="en-IN" sz="2000" dirty="0">
                <a:latin typeface="Times New Roman" pitchFamily="18" charset="0"/>
                <a:cs typeface="Times New Roman" pitchFamily="18" charset="0"/>
              </a:rPr>
            </a:br>
            <a:r>
              <a:rPr lang="en-IN" sz="2000" dirty="0" smtClean="0">
                <a:latin typeface="Times New Roman" pitchFamily="18" charset="0"/>
                <a:cs typeface="Times New Roman" pitchFamily="18" charset="0"/>
              </a:rPr>
              <a:t> </a:t>
            </a:r>
            <a:r>
              <a:rPr lang="en-IN" sz="2000" dirty="0">
                <a:latin typeface="Times New Roman" pitchFamily="18" charset="0"/>
                <a:cs typeface="Times New Roman" pitchFamily="18" charset="0"/>
              </a:rPr>
              <a:t>Large automata may require more memory and processing resources.</a:t>
            </a:r>
            <a:br>
              <a:rPr lang="en-IN" sz="2000" dirty="0">
                <a:latin typeface="Times New Roman" pitchFamily="18" charset="0"/>
                <a:cs typeface="Times New Roman" pitchFamily="18" charset="0"/>
              </a:rPr>
            </a:br>
            <a:r>
              <a:rPr lang="en-IN" sz="2000" dirty="0" smtClean="0">
                <a:latin typeface="Times New Roman" pitchFamily="18" charset="0"/>
                <a:cs typeface="Times New Roman" pitchFamily="18" charset="0"/>
              </a:rPr>
              <a:t> </a:t>
            </a:r>
            <a:r>
              <a:rPr lang="en-IN" sz="2000" dirty="0">
                <a:latin typeface="Times New Roman" pitchFamily="18" charset="0"/>
                <a:cs typeface="Times New Roman" pitchFamily="18" charset="0"/>
              </a:rPr>
              <a:t>Visualization can become difficult with a large number of states and transitions.</a:t>
            </a:r>
            <a:br>
              <a:rPr lang="en-IN" sz="2000" dirty="0">
                <a:latin typeface="Times New Roman" pitchFamily="18" charset="0"/>
                <a:cs typeface="Times New Roman" pitchFamily="18" charset="0"/>
              </a:rPr>
            </a:br>
            <a:r>
              <a:rPr lang="en-IN" sz="2000" dirty="0" smtClean="0">
                <a:latin typeface="Times New Roman" pitchFamily="18" charset="0"/>
                <a:cs typeface="Times New Roman" pitchFamily="18" charset="0"/>
              </a:rPr>
              <a:t> </a:t>
            </a:r>
            <a:r>
              <a:rPr lang="en-IN" sz="2000" dirty="0">
                <a:latin typeface="Times New Roman" pitchFamily="18" charset="0"/>
                <a:cs typeface="Times New Roman" pitchFamily="18" charset="0"/>
              </a:rPr>
              <a:t>Database or backend failures may affect result storage and retrieval.</a:t>
            </a:r>
            <a:br>
              <a:rPr lang="en-IN" sz="2000" dirty="0">
                <a:latin typeface="Times New Roman" pitchFamily="18" charset="0"/>
                <a:cs typeface="Times New Roman" pitchFamily="18" charset="0"/>
              </a:rPr>
            </a:br>
            <a:r>
              <a:rPr lang="en-IN" sz="2000" dirty="0" smtClean="0">
                <a:latin typeface="Times New Roman" pitchFamily="18" charset="0"/>
                <a:cs typeface="Times New Roman" pitchFamily="18" charset="0"/>
              </a:rPr>
              <a:t> </a:t>
            </a:r>
            <a:r>
              <a:rPr lang="en-IN" sz="2000" dirty="0">
                <a:latin typeface="Times New Roman" pitchFamily="18" charset="0"/>
                <a:cs typeface="Times New Roman" pitchFamily="18" charset="0"/>
              </a:rPr>
              <a:t>Current prototype may have limited support for advanced language-analysis features.</a:t>
            </a:r>
          </a:p>
        </p:txBody>
      </p:sp>
      <p:pic>
        <p:nvPicPr>
          <p:cNvPr id="4" name="Picture 3"/>
          <p:cNvPicPr/>
          <p:nvPr/>
        </p:nvPicPr>
        <p:blipFill>
          <a:blip r:embed="rId2" cstate="print">
            <a:extLst>
              <a:ext uri="{28A0092B-C50C-407E-A947-70E740481C1C}">
                <a14:useLocalDpi xmlns:a14="http://schemas.microsoft.com/office/drawing/2010/main" val="0"/>
              </a:ext>
            </a:extLst>
          </a:blip>
          <a:srcRect/>
          <a:stretch>
            <a:fillRect/>
          </a:stretch>
        </p:blipFill>
        <p:spPr>
          <a:xfrm>
            <a:off x="357352" y="191626"/>
            <a:ext cx="1135117" cy="1342884"/>
          </a:xfrm>
          <a:prstGeom prst="rect">
            <a:avLst/>
          </a:prstGeom>
          <a:noFill/>
        </p:spPr>
      </p:pic>
      <p:pic>
        <p:nvPicPr>
          <p:cNvPr id="5" name="Picture 4"/>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191626"/>
            <a:ext cx="1520114" cy="1342884"/>
          </a:xfrm>
          <a:prstGeom prst="rect">
            <a:avLst/>
          </a:prstGeom>
          <a:noFill/>
          <a:ln>
            <a:noFill/>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itchFamily="18" charset="0"/>
                <a:cs typeface="Times New Roman" pitchFamily="18" charset="0"/>
              </a:rPr>
              <a:t>Future Scope</a:t>
            </a:r>
          </a:p>
        </p:txBody>
      </p:sp>
      <p:sp>
        <p:nvSpPr>
          <p:cNvPr id="3" name="Content Placeholder 2"/>
          <p:cNvSpPr>
            <a:spLocks noGrp="1"/>
          </p:cNvSpPr>
          <p:nvPr>
            <p:ph idx="1"/>
          </p:nvPr>
        </p:nvSpPr>
        <p:spPr>
          <a:xfrm>
            <a:off x="609600" y="1600201"/>
            <a:ext cx="10972800" cy="5044439"/>
          </a:xfrm>
        </p:spPr>
        <p:txBody>
          <a:bodyPr>
            <a:normAutofit/>
          </a:bodyPr>
          <a:lstStyle/>
          <a:p>
            <a:pPr marL="0" indent="0">
              <a:buNone/>
            </a:pPr>
            <a:r>
              <a:rPr lang="en-US" sz="2400" b="1" dirty="0">
                <a:latin typeface="Times New Roman" pitchFamily="18" charset="0"/>
                <a:cs typeface="Times New Roman" pitchFamily="18" charset="0"/>
              </a:rPr>
              <a:t>Enhancements or Improvements</a:t>
            </a:r>
          </a:p>
          <a:p>
            <a:pPr marL="0" indent="0">
              <a:buNone/>
            </a:pPr>
            <a:r>
              <a:rPr lang="en-US" sz="2000" dirty="0" smtClean="0">
                <a:latin typeface="Times New Roman" pitchFamily="18" charset="0"/>
                <a:cs typeface="Times New Roman" pitchFamily="18" charset="0"/>
              </a:rPr>
              <a:t>Add </a:t>
            </a:r>
            <a:r>
              <a:rPr lang="en-US" sz="2000" dirty="0">
                <a:latin typeface="Times New Roman" pitchFamily="18" charset="0"/>
                <a:cs typeface="Times New Roman" pitchFamily="18" charset="0"/>
              </a:rPr>
              <a:t>support for advanced regular-expression analysis and validation.</a:t>
            </a:r>
            <a:br>
              <a:rPr lang="en-US" sz="2000" dirty="0">
                <a:latin typeface="Times New Roman" pitchFamily="18" charset="0"/>
                <a:cs typeface="Times New Roman" pitchFamily="18" charset="0"/>
              </a:rPr>
            </a:br>
            <a:r>
              <a:rPr lang="en-US" sz="2000" dirty="0" smtClean="0">
                <a:latin typeface="Times New Roman" pitchFamily="18" charset="0"/>
                <a:cs typeface="Times New Roman" pitchFamily="18" charset="0"/>
              </a:rPr>
              <a:t> </a:t>
            </a:r>
            <a:r>
              <a:rPr lang="en-US" sz="2000" dirty="0">
                <a:latin typeface="Times New Roman" pitchFamily="18" charset="0"/>
                <a:cs typeface="Times New Roman" pitchFamily="18" charset="0"/>
              </a:rPr>
              <a:t>Improve automata visualization for complex state transitions.</a:t>
            </a:r>
            <a:br>
              <a:rPr lang="en-US" sz="2000" dirty="0">
                <a:latin typeface="Times New Roman" pitchFamily="18" charset="0"/>
                <a:cs typeface="Times New Roman" pitchFamily="18" charset="0"/>
              </a:rPr>
            </a:br>
            <a:r>
              <a:rPr lang="en-US" sz="2000" dirty="0" smtClean="0">
                <a:latin typeface="Times New Roman" pitchFamily="18" charset="0"/>
                <a:cs typeface="Times New Roman" pitchFamily="18" charset="0"/>
              </a:rPr>
              <a:t> </a:t>
            </a:r>
            <a:r>
              <a:rPr lang="en-US" sz="2000" dirty="0">
                <a:latin typeface="Times New Roman" pitchFamily="18" charset="0"/>
                <a:cs typeface="Times New Roman" pitchFamily="18" charset="0"/>
              </a:rPr>
              <a:t>Add step-by-step visualization of ε-closure and NFA-to-DFA conversion.</a:t>
            </a:r>
            <a:br>
              <a:rPr lang="en-US" sz="2000" dirty="0">
                <a:latin typeface="Times New Roman" pitchFamily="18" charset="0"/>
                <a:cs typeface="Times New Roman" pitchFamily="18" charset="0"/>
              </a:rPr>
            </a:br>
            <a:r>
              <a:rPr lang="en-US" sz="2000" dirty="0" smtClean="0">
                <a:latin typeface="Times New Roman" pitchFamily="18" charset="0"/>
                <a:cs typeface="Times New Roman" pitchFamily="18" charset="0"/>
              </a:rPr>
              <a:t> </a:t>
            </a:r>
            <a:r>
              <a:rPr lang="en-US" sz="2000" dirty="0">
                <a:latin typeface="Times New Roman" pitchFamily="18" charset="0"/>
                <a:cs typeface="Times New Roman" pitchFamily="18" charset="0"/>
              </a:rPr>
              <a:t>Enhance analytics with detailed acceptance/rejection statistics.</a:t>
            </a:r>
            <a:br>
              <a:rPr lang="en-US" sz="2000" dirty="0">
                <a:latin typeface="Times New Roman" pitchFamily="18" charset="0"/>
                <a:cs typeface="Times New Roman" pitchFamily="18" charset="0"/>
              </a:rPr>
            </a:br>
            <a:r>
              <a:rPr lang="en-US" sz="2000" dirty="0" smtClean="0">
                <a:latin typeface="Times New Roman" pitchFamily="18" charset="0"/>
                <a:cs typeface="Times New Roman" pitchFamily="18" charset="0"/>
              </a:rPr>
              <a:t> </a:t>
            </a:r>
            <a:r>
              <a:rPr lang="en-US" sz="2000" dirty="0">
                <a:latin typeface="Times New Roman" pitchFamily="18" charset="0"/>
                <a:cs typeface="Times New Roman" pitchFamily="18" charset="0"/>
              </a:rPr>
              <a:t>Improve report generation with graphical automata and verification summaries.</a:t>
            </a:r>
          </a:p>
          <a:p>
            <a:pPr marL="0" indent="0">
              <a:buNone/>
            </a:pPr>
            <a:endParaRPr lang="en-US" sz="2000" b="1" dirty="0" smtClean="0">
              <a:latin typeface="Times New Roman" pitchFamily="18" charset="0"/>
              <a:cs typeface="Times New Roman" pitchFamily="18" charset="0"/>
            </a:endParaRPr>
          </a:p>
          <a:p>
            <a:pPr marL="0" indent="0">
              <a:buNone/>
            </a:pPr>
            <a:r>
              <a:rPr lang="en-US" sz="2400" b="1" dirty="0" smtClean="0">
                <a:latin typeface="Times New Roman" pitchFamily="18" charset="0"/>
                <a:cs typeface="Times New Roman" pitchFamily="18" charset="0"/>
              </a:rPr>
              <a:t>How </a:t>
            </a:r>
            <a:r>
              <a:rPr lang="en-US" sz="2400" b="1" dirty="0">
                <a:latin typeface="Times New Roman" pitchFamily="18" charset="0"/>
                <a:cs typeface="Times New Roman" pitchFamily="18" charset="0"/>
              </a:rPr>
              <a:t>This Project Can Be Extended Further</a:t>
            </a:r>
          </a:p>
          <a:p>
            <a:pPr marL="0" indent="0">
              <a:buNone/>
            </a:pPr>
            <a:r>
              <a:rPr lang="en-US" sz="2000" dirty="0" smtClean="0">
                <a:latin typeface="Times New Roman" pitchFamily="18" charset="0"/>
                <a:cs typeface="Times New Roman" pitchFamily="18" charset="0"/>
              </a:rPr>
              <a:t>Support </a:t>
            </a:r>
            <a:r>
              <a:rPr lang="en-US" sz="2000" dirty="0">
                <a:latin typeface="Times New Roman" pitchFamily="18" charset="0"/>
                <a:cs typeface="Times New Roman" pitchFamily="18" charset="0"/>
              </a:rPr>
              <a:t>additional automata operations such as DFA equivalence and language comparison.</a:t>
            </a:r>
            <a:br>
              <a:rPr lang="en-US" sz="2000" dirty="0">
                <a:latin typeface="Times New Roman" pitchFamily="18" charset="0"/>
                <a:cs typeface="Times New Roman" pitchFamily="18" charset="0"/>
              </a:rPr>
            </a:br>
            <a:r>
              <a:rPr lang="en-US" sz="2000" dirty="0" smtClean="0">
                <a:latin typeface="Times New Roman" pitchFamily="18" charset="0"/>
                <a:cs typeface="Times New Roman" pitchFamily="18" charset="0"/>
              </a:rPr>
              <a:t> </a:t>
            </a:r>
            <a:r>
              <a:rPr lang="en-US" sz="2000" dirty="0">
                <a:latin typeface="Times New Roman" pitchFamily="18" charset="0"/>
                <a:cs typeface="Times New Roman" pitchFamily="18" charset="0"/>
              </a:rPr>
              <a:t>Add advanced regular-expression optimization and analysis features.</a:t>
            </a:r>
            <a:br>
              <a:rPr lang="en-US" sz="2000" dirty="0">
                <a:latin typeface="Times New Roman" pitchFamily="18" charset="0"/>
                <a:cs typeface="Times New Roman" pitchFamily="18" charset="0"/>
              </a:rPr>
            </a:br>
            <a:r>
              <a:rPr lang="en-US" sz="2000" dirty="0" smtClean="0">
                <a:latin typeface="Times New Roman" pitchFamily="18" charset="0"/>
                <a:cs typeface="Times New Roman" pitchFamily="18" charset="0"/>
              </a:rPr>
              <a:t> </a:t>
            </a:r>
            <a:r>
              <a:rPr lang="en-US" sz="2000" dirty="0">
                <a:latin typeface="Times New Roman" pitchFamily="18" charset="0"/>
                <a:cs typeface="Times New Roman" pitchFamily="18" charset="0"/>
              </a:rPr>
              <a:t>Introduce collaborative project sharing and online verification.</a:t>
            </a:r>
            <a:br>
              <a:rPr lang="en-US" sz="2000" dirty="0">
                <a:latin typeface="Times New Roman" pitchFamily="18" charset="0"/>
                <a:cs typeface="Times New Roman" pitchFamily="18" charset="0"/>
              </a:rPr>
            </a:br>
            <a:r>
              <a:rPr lang="en-US" sz="2000" dirty="0" smtClean="0">
                <a:latin typeface="Times New Roman" pitchFamily="18" charset="0"/>
                <a:cs typeface="Times New Roman" pitchFamily="18" charset="0"/>
              </a:rPr>
              <a:t> </a:t>
            </a:r>
            <a:r>
              <a:rPr lang="en-US" sz="2000" dirty="0">
                <a:latin typeface="Times New Roman" pitchFamily="18" charset="0"/>
                <a:cs typeface="Times New Roman" pitchFamily="18" charset="0"/>
              </a:rPr>
              <a:t>Develop real-time interactive automata editing and simulation.</a:t>
            </a:r>
            <a:br>
              <a:rPr lang="en-US" sz="2000" dirty="0">
                <a:latin typeface="Times New Roman" pitchFamily="18" charset="0"/>
                <a:cs typeface="Times New Roman" pitchFamily="18" charset="0"/>
              </a:rPr>
            </a:br>
            <a:r>
              <a:rPr lang="en-US" sz="2000" dirty="0" smtClean="0">
                <a:latin typeface="Times New Roman" pitchFamily="18" charset="0"/>
                <a:cs typeface="Times New Roman" pitchFamily="18" charset="0"/>
              </a:rPr>
              <a:t> </a:t>
            </a:r>
            <a:r>
              <a:rPr lang="en-US" sz="2000" dirty="0">
                <a:latin typeface="Times New Roman" pitchFamily="18" charset="0"/>
                <a:cs typeface="Times New Roman" pitchFamily="18" charset="0"/>
              </a:rPr>
              <a:t>Extend the system to support educational exercises, quizzes, and automated evaluation.</a:t>
            </a:r>
          </a:p>
        </p:txBody>
      </p:sp>
      <p:pic>
        <p:nvPicPr>
          <p:cNvPr id="4" name="Picture 3"/>
          <p:cNvPicPr/>
          <p:nvPr/>
        </p:nvPicPr>
        <p:blipFill>
          <a:blip r:embed="rId2" cstate="print">
            <a:extLst>
              <a:ext uri="{28A0092B-C50C-407E-A947-70E740481C1C}">
                <a14:useLocalDpi xmlns:a14="http://schemas.microsoft.com/office/drawing/2010/main" val="0"/>
              </a:ext>
            </a:extLst>
          </a:blip>
          <a:srcRect/>
          <a:stretch>
            <a:fillRect/>
          </a:stretch>
        </p:blipFill>
        <p:spPr>
          <a:xfrm>
            <a:off x="357352" y="191626"/>
            <a:ext cx="1135117" cy="1342884"/>
          </a:xfrm>
          <a:prstGeom prst="rect">
            <a:avLst/>
          </a:prstGeom>
          <a:noFill/>
        </p:spPr>
      </p:pic>
      <p:pic>
        <p:nvPicPr>
          <p:cNvPr id="5" name="Picture 4"/>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191626"/>
            <a:ext cx="1520114" cy="1342884"/>
          </a:xfrm>
          <a:prstGeom prst="rect">
            <a:avLst/>
          </a:prstGeom>
          <a:noFill/>
          <a:ln>
            <a:noFill/>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itchFamily="18" charset="0"/>
                <a:cs typeface="Times New Roman" pitchFamily="18" charset="0"/>
              </a:rPr>
              <a:t>Conclusion</a:t>
            </a:r>
          </a:p>
        </p:txBody>
      </p:sp>
      <p:sp>
        <p:nvSpPr>
          <p:cNvPr id="3" name="Content Placeholder 2"/>
          <p:cNvSpPr>
            <a:spLocks noGrp="1"/>
          </p:cNvSpPr>
          <p:nvPr>
            <p:ph idx="1"/>
          </p:nvPr>
        </p:nvSpPr>
        <p:spPr>
          <a:xfrm>
            <a:off x="609600" y="1600201"/>
            <a:ext cx="10972800" cy="4831079"/>
          </a:xfrm>
        </p:spPr>
        <p:txBody>
          <a:bodyPr>
            <a:normAutofit fontScale="85000" lnSpcReduction="20000"/>
          </a:bodyPr>
          <a:lstStyle/>
          <a:p>
            <a:pPr marL="0" indent="0">
              <a:buNone/>
            </a:pPr>
            <a:r>
              <a:rPr lang="en-US" sz="2800" b="1" dirty="0">
                <a:latin typeface="Times New Roman" pitchFamily="18" charset="0"/>
                <a:cs typeface="Times New Roman" pitchFamily="18" charset="0"/>
              </a:rPr>
              <a:t>Summary of the Project</a:t>
            </a:r>
          </a:p>
          <a:p>
            <a:r>
              <a:rPr lang="en-US" sz="2800" dirty="0">
                <a:latin typeface="Times New Roman" pitchFamily="18" charset="0"/>
                <a:cs typeface="Times New Roman" pitchFamily="18" charset="0"/>
              </a:rPr>
              <a:t>This project developed </a:t>
            </a:r>
            <a:r>
              <a:rPr lang="en-US" sz="2800" b="1" dirty="0" err="1">
                <a:latin typeface="Times New Roman" pitchFamily="18" charset="0"/>
                <a:cs typeface="Times New Roman" pitchFamily="18" charset="0"/>
              </a:rPr>
              <a:t>LangCheck</a:t>
            </a:r>
            <a:r>
              <a:rPr lang="en-US" sz="2800" b="1" dirty="0">
                <a:latin typeface="Times New Roman" pitchFamily="18" charset="0"/>
                <a:cs typeface="Times New Roman" pitchFamily="18" charset="0"/>
              </a:rPr>
              <a:t>: Regular Language Verification System</a:t>
            </a:r>
            <a:r>
              <a:rPr lang="en-US" sz="2800" dirty="0">
                <a:latin typeface="Times New Roman" pitchFamily="18" charset="0"/>
                <a:cs typeface="Times New Roman" pitchFamily="18" charset="0"/>
              </a:rPr>
              <a:t>, which provides automated regular-language analysis through regular-expression processing, finite automata construction, conversion, string verification, and DFA minimization. The system combines user management, verification processing, backend and database services, and reporting features to provide an efficient platform for analyzing and understanding regular languages.</a:t>
            </a:r>
          </a:p>
          <a:p>
            <a:pPr marL="0" indent="0">
              <a:buNone/>
            </a:pPr>
            <a:r>
              <a:rPr lang="en-US" sz="2800" b="1" dirty="0">
                <a:latin typeface="Times New Roman" pitchFamily="18" charset="0"/>
                <a:cs typeface="Times New Roman" pitchFamily="18" charset="0"/>
              </a:rPr>
              <a:t>Key Takeaways</a:t>
            </a:r>
          </a:p>
          <a:p>
            <a:pPr marL="0" indent="0">
              <a:buNone/>
            </a:pPr>
            <a:r>
              <a:rPr lang="en-US" sz="2800" dirty="0" smtClean="0">
                <a:latin typeface="Times New Roman" pitchFamily="18" charset="0"/>
                <a:cs typeface="Times New Roman" pitchFamily="18" charset="0"/>
              </a:rPr>
              <a:t> </a:t>
            </a:r>
            <a:r>
              <a:rPr lang="en-US" sz="2800" dirty="0">
                <a:latin typeface="Times New Roman" pitchFamily="18" charset="0"/>
                <a:cs typeface="Times New Roman" pitchFamily="18" charset="0"/>
              </a:rPr>
              <a:t>Gained practical experience in </a:t>
            </a:r>
            <a:r>
              <a:rPr lang="en-US" sz="2800" b="1" dirty="0">
                <a:latin typeface="Times New Roman" pitchFamily="18" charset="0"/>
                <a:cs typeface="Times New Roman" pitchFamily="18" charset="0"/>
              </a:rPr>
              <a:t>Regular Languages and Automata Theory</a:t>
            </a:r>
            <a:r>
              <a:rPr lang="en-US" sz="2800" dirty="0">
                <a:latin typeface="Times New Roman" pitchFamily="18" charset="0"/>
                <a:cs typeface="Times New Roman" pitchFamily="18" charset="0"/>
              </a:rPr>
              <a:t>.</a:t>
            </a:r>
            <a:br>
              <a:rPr lang="en-US" sz="2800" dirty="0">
                <a:latin typeface="Times New Roman" pitchFamily="18" charset="0"/>
                <a:cs typeface="Times New Roman" pitchFamily="18" charset="0"/>
              </a:rPr>
            </a:br>
            <a:r>
              <a:rPr lang="en-US" sz="2800" dirty="0" smtClean="0">
                <a:latin typeface="Times New Roman" pitchFamily="18" charset="0"/>
                <a:cs typeface="Times New Roman" pitchFamily="18" charset="0"/>
              </a:rPr>
              <a:t> </a:t>
            </a:r>
            <a:r>
              <a:rPr lang="en-US" sz="2800" dirty="0">
                <a:latin typeface="Times New Roman" pitchFamily="18" charset="0"/>
                <a:cs typeface="Times New Roman" pitchFamily="18" charset="0"/>
              </a:rPr>
              <a:t>Learned regular-expression processing and finite automata construction techniques.</a:t>
            </a:r>
            <a:br>
              <a:rPr lang="en-US" sz="2800" dirty="0">
                <a:latin typeface="Times New Roman" pitchFamily="18" charset="0"/>
                <a:cs typeface="Times New Roman" pitchFamily="18" charset="0"/>
              </a:rPr>
            </a:br>
            <a:r>
              <a:rPr lang="en-US" sz="2800" dirty="0" smtClean="0">
                <a:latin typeface="Times New Roman" pitchFamily="18" charset="0"/>
                <a:cs typeface="Times New Roman" pitchFamily="18" charset="0"/>
              </a:rPr>
              <a:t> </a:t>
            </a:r>
            <a:r>
              <a:rPr lang="en-US" sz="2800" dirty="0">
                <a:latin typeface="Times New Roman" pitchFamily="18" charset="0"/>
                <a:cs typeface="Times New Roman" pitchFamily="18" charset="0"/>
              </a:rPr>
              <a:t>Implemented </a:t>
            </a:r>
            <a:r>
              <a:rPr lang="en-US" sz="2800" b="1" dirty="0">
                <a:latin typeface="Times New Roman" pitchFamily="18" charset="0"/>
                <a:cs typeface="Times New Roman" pitchFamily="18" charset="0"/>
              </a:rPr>
              <a:t>ε-closure, NFA-to-DFA conversion, and DFA minimization</a:t>
            </a:r>
            <a:r>
              <a:rPr lang="en-US" sz="2800" dirty="0">
                <a:latin typeface="Times New Roman" pitchFamily="18" charset="0"/>
                <a:cs typeface="Times New Roman" pitchFamily="18" charset="0"/>
              </a:rPr>
              <a:t>.</a:t>
            </a:r>
            <a:br>
              <a:rPr lang="en-US" sz="2800" dirty="0">
                <a:latin typeface="Times New Roman" pitchFamily="18" charset="0"/>
                <a:cs typeface="Times New Roman" pitchFamily="18" charset="0"/>
              </a:rPr>
            </a:br>
            <a:r>
              <a:rPr lang="en-US" sz="2800" dirty="0" smtClean="0">
                <a:latin typeface="Times New Roman" pitchFamily="18" charset="0"/>
                <a:cs typeface="Times New Roman" pitchFamily="18" charset="0"/>
              </a:rPr>
              <a:t> </a:t>
            </a:r>
            <a:r>
              <a:rPr lang="en-US" sz="2800" dirty="0">
                <a:latin typeface="Times New Roman" pitchFamily="18" charset="0"/>
                <a:cs typeface="Times New Roman" pitchFamily="18" charset="0"/>
              </a:rPr>
              <a:t>Developed string verification, automata visualization, and reporting features.</a:t>
            </a:r>
            <a:br>
              <a:rPr lang="en-US" sz="2800" dirty="0">
                <a:latin typeface="Times New Roman" pitchFamily="18" charset="0"/>
                <a:cs typeface="Times New Roman" pitchFamily="18" charset="0"/>
              </a:rPr>
            </a:br>
            <a:r>
              <a:rPr lang="en-US" sz="2800" dirty="0" smtClean="0">
                <a:latin typeface="Times New Roman" pitchFamily="18" charset="0"/>
                <a:cs typeface="Times New Roman" pitchFamily="18" charset="0"/>
              </a:rPr>
              <a:t> </a:t>
            </a:r>
            <a:r>
              <a:rPr lang="en-US" sz="2800" dirty="0">
                <a:latin typeface="Times New Roman" pitchFamily="18" charset="0"/>
                <a:cs typeface="Times New Roman" pitchFamily="18" charset="0"/>
              </a:rPr>
              <a:t>Understood the importance of automated testing, verification accuracy, and systematic language analysis.</a:t>
            </a:r>
          </a:p>
        </p:txBody>
      </p:sp>
      <p:pic>
        <p:nvPicPr>
          <p:cNvPr id="4" name="Picture 3"/>
          <p:cNvPicPr/>
          <p:nvPr/>
        </p:nvPicPr>
        <p:blipFill>
          <a:blip r:embed="rId2" cstate="print">
            <a:extLst>
              <a:ext uri="{28A0092B-C50C-407E-A947-70E740481C1C}">
                <a14:useLocalDpi xmlns:a14="http://schemas.microsoft.com/office/drawing/2010/main" val="0"/>
              </a:ext>
            </a:extLst>
          </a:blip>
          <a:srcRect/>
          <a:stretch>
            <a:fillRect/>
          </a:stretch>
        </p:blipFill>
        <p:spPr>
          <a:xfrm>
            <a:off x="357352" y="191626"/>
            <a:ext cx="1135117" cy="1342884"/>
          </a:xfrm>
          <a:prstGeom prst="rect">
            <a:avLst/>
          </a:prstGeom>
          <a:noFill/>
        </p:spPr>
      </p:pic>
      <p:pic>
        <p:nvPicPr>
          <p:cNvPr id="5" name="Picture 4"/>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191626"/>
            <a:ext cx="1520114" cy="1342884"/>
          </a:xfrm>
          <a:prstGeom prst="rect">
            <a:avLst/>
          </a:prstGeom>
          <a:noFill/>
          <a:ln>
            <a:noFill/>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itchFamily="18" charset="0"/>
                <a:cs typeface="Times New Roman" pitchFamily="18" charset="0"/>
              </a:rPr>
              <a:t>References</a:t>
            </a:r>
          </a:p>
        </p:txBody>
      </p:sp>
      <p:sp>
        <p:nvSpPr>
          <p:cNvPr id="3" name="Content Placeholder 2"/>
          <p:cNvSpPr>
            <a:spLocks noGrp="1"/>
          </p:cNvSpPr>
          <p:nvPr>
            <p:ph idx="1"/>
          </p:nvPr>
        </p:nvSpPr>
        <p:spPr>
          <a:xfrm>
            <a:off x="609600" y="1600201"/>
            <a:ext cx="10972800" cy="4861559"/>
          </a:xfrm>
        </p:spPr>
        <p:txBody>
          <a:bodyPr>
            <a:normAutofit/>
          </a:bodyPr>
          <a:lstStyle/>
          <a:p>
            <a:pPr marL="514350" indent="-514350">
              <a:buFont typeface="+mj-lt"/>
              <a:buAutoNum type="arabicPeriod"/>
            </a:pPr>
            <a:r>
              <a:rPr lang="en-US" sz="2400" dirty="0">
                <a:latin typeface="Times New Roman" pitchFamily="18" charset="0"/>
                <a:cs typeface="Times New Roman" pitchFamily="18" charset="0"/>
              </a:rPr>
              <a:t>Rabin, M. O., &amp; Scott, D. (1959). </a:t>
            </a:r>
            <a:r>
              <a:rPr lang="en-US" sz="2400" b="1" dirty="0">
                <a:latin typeface="Times New Roman" pitchFamily="18" charset="0"/>
                <a:cs typeface="Times New Roman" pitchFamily="18" charset="0"/>
              </a:rPr>
              <a:t>Finite Automata and Their Decision Problems</a:t>
            </a:r>
            <a:r>
              <a:rPr lang="en-US" sz="2400" dirty="0">
                <a:latin typeface="Times New Roman" pitchFamily="18" charset="0"/>
                <a:cs typeface="Times New Roman" pitchFamily="18" charset="0"/>
              </a:rPr>
              <a:t>. </a:t>
            </a:r>
            <a:r>
              <a:rPr lang="en-US" sz="2400" i="1" dirty="0">
                <a:latin typeface="Times New Roman" pitchFamily="18" charset="0"/>
                <a:cs typeface="Times New Roman" pitchFamily="18" charset="0"/>
              </a:rPr>
              <a:t>IBM Journal of Research and Development</a:t>
            </a:r>
            <a:r>
              <a:rPr lang="en-US" sz="2400" dirty="0">
                <a:latin typeface="Times New Roman" pitchFamily="18" charset="0"/>
                <a:cs typeface="Times New Roman" pitchFamily="18" charset="0"/>
              </a:rPr>
              <a:t>, 3(2), 114–125. </a:t>
            </a:r>
          </a:p>
          <a:p>
            <a:pPr marL="514350" indent="-514350">
              <a:buFont typeface="+mj-lt"/>
              <a:buAutoNum type="arabicPeriod"/>
            </a:pPr>
            <a:r>
              <a:rPr lang="en-US" sz="2400" dirty="0" err="1">
                <a:latin typeface="Times New Roman" pitchFamily="18" charset="0"/>
                <a:cs typeface="Times New Roman" pitchFamily="18" charset="0"/>
              </a:rPr>
              <a:t>Brzozowski</a:t>
            </a:r>
            <a:r>
              <a:rPr lang="en-US" sz="2400" dirty="0">
                <a:latin typeface="Times New Roman" pitchFamily="18" charset="0"/>
                <a:cs typeface="Times New Roman" pitchFamily="18" charset="0"/>
              </a:rPr>
              <a:t>, J. A. (1964). </a:t>
            </a:r>
            <a:r>
              <a:rPr lang="en-US" sz="2400" b="1" dirty="0">
                <a:latin typeface="Times New Roman" pitchFamily="18" charset="0"/>
                <a:cs typeface="Times New Roman" pitchFamily="18" charset="0"/>
              </a:rPr>
              <a:t>Derivatives of Regular Expressions</a:t>
            </a:r>
            <a:r>
              <a:rPr lang="en-US" sz="2400" dirty="0">
                <a:latin typeface="Times New Roman" pitchFamily="18" charset="0"/>
                <a:cs typeface="Times New Roman" pitchFamily="18" charset="0"/>
              </a:rPr>
              <a:t>. </a:t>
            </a:r>
            <a:r>
              <a:rPr lang="en-US" sz="2400" i="1" dirty="0">
                <a:latin typeface="Times New Roman" pitchFamily="18" charset="0"/>
                <a:cs typeface="Times New Roman" pitchFamily="18" charset="0"/>
              </a:rPr>
              <a:t>Journal of the ACM</a:t>
            </a:r>
            <a:r>
              <a:rPr lang="en-US" sz="2400" dirty="0">
                <a:latin typeface="Times New Roman" pitchFamily="18" charset="0"/>
                <a:cs typeface="Times New Roman" pitchFamily="18" charset="0"/>
              </a:rPr>
              <a:t>, 11(4), 481–494. </a:t>
            </a:r>
          </a:p>
          <a:p>
            <a:pPr marL="514350" indent="-514350">
              <a:buFont typeface="+mj-lt"/>
              <a:buAutoNum type="arabicPeriod"/>
            </a:pPr>
            <a:r>
              <a:rPr lang="en-US" sz="2400" dirty="0">
                <a:latin typeface="Times New Roman" pitchFamily="18" charset="0"/>
                <a:cs typeface="Times New Roman" pitchFamily="18" charset="0"/>
              </a:rPr>
              <a:t>Thompson, K. (1968). </a:t>
            </a:r>
            <a:r>
              <a:rPr lang="en-US" sz="2400" b="1" dirty="0">
                <a:latin typeface="Times New Roman" pitchFamily="18" charset="0"/>
                <a:cs typeface="Times New Roman" pitchFamily="18" charset="0"/>
              </a:rPr>
              <a:t>Programming Techniques: Regular Expression Search Algorithm</a:t>
            </a:r>
            <a:r>
              <a:rPr lang="en-US" sz="2400" dirty="0">
                <a:latin typeface="Times New Roman" pitchFamily="18" charset="0"/>
                <a:cs typeface="Times New Roman" pitchFamily="18" charset="0"/>
              </a:rPr>
              <a:t>. </a:t>
            </a:r>
            <a:r>
              <a:rPr lang="en-US" sz="2400" i="1" dirty="0">
                <a:latin typeface="Times New Roman" pitchFamily="18" charset="0"/>
                <a:cs typeface="Times New Roman" pitchFamily="18" charset="0"/>
              </a:rPr>
              <a:t>Communications of the ACM</a:t>
            </a:r>
            <a:r>
              <a:rPr lang="en-US" sz="2400" dirty="0">
                <a:latin typeface="Times New Roman" pitchFamily="18" charset="0"/>
                <a:cs typeface="Times New Roman" pitchFamily="18" charset="0"/>
              </a:rPr>
              <a:t>, 11(6), 419–422. </a:t>
            </a:r>
          </a:p>
          <a:p>
            <a:pPr marL="514350" indent="-514350">
              <a:buFont typeface="+mj-lt"/>
              <a:buAutoNum type="arabicPeriod"/>
            </a:pPr>
            <a:r>
              <a:rPr lang="en-US" sz="2400" dirty="0" err="1">
                <a:latin typeface="Times New Roman" pitchFamily="18" charset="0"/>
                <a:cs typeface="Times New Roman" pitchFamily="18" charset="0"/>
              </a:rPr>
              <a:t>Hopcroft</a:t>
            </a:r>
            <a:r>
              <a:rPr lang="en-US" sz="2400" dirty="0">
                <a:latin typeface="Times New Roman" pitchFamily="18" charset="0"/>
                <a:cs typeface="Times New Roman" pitchFamily="18" charset="0"/>
              </a:rPr>
              <a:t>, J. E. (1971). </a:t>
            </a:r>
            <a:r>
              <a:rPr lang="en-US" sz="2400" b="1" dirty="0">
                <a:latin typeface="Times New Roman" pitchFamily="18" charset="0"/>
                <a:cs typeface="Times New Roman" pitchFamily="18" charset="0"/>
              </a:rPr>
              <a:t>An n log n Algorithm for Minimizing States in a Finite Automaton</a:t>
            </a:r>
            <a:r>
              <a:rPr lang="en-US" sz="2400" dirty="0">
                <a:latin typeface="Times New Roman" pitchFamily="18" charset="0"/>
                <a:cs typeface="Times New Roman" pitchFamily="18" charset="0"/>
              </a:rPr>
              <a:t>. In </a:t>
            </a:r>
            <a:r>
              <a:rPr lang="en-US" sz="2400" i="1" dirty="0">
                <a:latin typeface="Times New Roman" pitchFamily="18" charset="0"/>
                <a:cs typeface="Times New Roman" pitchFamily="18" charset="0"/>
              </a:rPr>
              <a:t>Theory of Machines and Computations</a:t>
            </a:r>
            <a:r>
              <a:rPr lang="en-US" sz="2400" dirty="0">
                <a:latin typeface="Times New Roman" pitchFamily="18" charset="0"/>
                <a:cs typeface="Times New Roman" pitchFamily="18" charset="0"/>
              </a:rPr>
              <a:t>, 189–196. </a:t>
            </a:r>
          </a:p>
          <a:p>
            <a:pPr marL="514350" indent="-514350">
              <a:buFont typeface="+mj-lt"/>
              <a:buAutoNum type="arabicPeriod"/>
            </a:pPr>
            <a:r>
              <a:rPr lang="en-US" sz="2400" dirty="0" err="1">
                <a:latin typeface="Times New Roman" pitchFamily="18" charset="0"/>
                <a:cs typeface="Times New Roman" pitchFamily="18" charset="0"/>
              </a:rPr>
              <a:t>Antimirov</a:t>
            </a:r>
            <a:r>
              <a:rPr lang="en-US" sz="2400" dirty="0">
                <a:latin typeface="Times New Roman" pitchFamily="18" charset="0"/>
                <a:cs typeface="Times New Roman" pitchFamily="18" charset="0"/>
              </a:rPr>
              <a:t>, V. M. (1996). </a:t>
            </a:r>
            <a:r>
              <a:rPr lang="en-US" sz="2400" b="1" dirty="0">
                <a:latin typeface="Times New Roman" pitchFamily="18" charset="0"/>
                <a:cs typeface="Times New Roman" pitchFamily="18" charset="0"/>
              </a:rPr>
              <a:t>Partial Derivatives of Regular Expressions and Finite Automaton Constructions</a:t>
            </a:r>
            <a:r>
              <a:rPr lang="en-US" sz="2400" dirty="0">
                <a:latin typeface="Times New Roman" pitchFamily="18" charset="0"/>
                <a:cs typeface="Times New Roman" pitchFamily="18" charset="0"/>
              </a:rPr>
              <a:t>. </a:t>
            </a:r>
            <a:r>
              <a:rPr lang="en-US" sz="2400" i="1" dirty="0">
                <a:latin typeface="Times New Roman" pitchFamily="18" charset="0"/>
                <a:cs typeface="Times New Roman" pitchFamily="18" charset="0"/>
              </a:rPr>
              <a:t>Theoretical Computer Science</a:t>
            </a:r>
            <a:r>
              <a:rPr lang="en-US" sz="2400" dirty="0">
                <a:latin typeface="Times New Roman" pitchFamily="18" charset="0"/>
                <a:cs typeface="Times New Roman" pitchFamily="18" charset="0"/>
              </a:rPr>
              <a:t>, 155(2), 291–319. </a:t>
            </a:r>
          </a:p>
        </p:txBody>
      </p:sp>
      <p:pic>
        <p:nvPicPr>
          <p:cNvPr id="4" name="Picture 3"/>
          <p:cNvPicPr/>
          <p:nvPr/>
        </p:nvPicPr>
        <p:blipFill>
          <a:blip r:embed="rId2" cstate="print">
            <a:extLst>
              <a:ext uri="{28A0092B-C50C-407E-A947-70E740481C1C}">
                <a14:useLocalDpi xmlns:a14="http://schemas.microsoft.com/office/drawing/2010/main" val="0"/>
              </a:ext>
            </a:extLst>
          </a:blip>
          <a:srcRect/>
          <a:stretch>
            <a:fillRect/>
          </a:stretch>
        </p:blipFill>
        <p:spPr>
          <a:xfrm>
            <a:off x="357352" y="191626"/>
            <a:ext cx="1135117" cy="1342884"/>
          </a:xfrm>
          <a:prstGeom prst="rect">
            <a:avLst/>
          </a:prstGeom>
          <a:noFill/>
        </p:spPr>
      </p:pic>
      <p:pic>
        <p:nvPicPr>
          <p:cNvPr id="5" name="Picture 4"/>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191626"/>
            <a:ext cx="1520114" cy="1342884"/>
          </a:xfrm>
          <a:prstGeom prst="rect">
            <a:avLst/>
          </a:prstGeom>
          <a:noFill/>
          <a:ln>
            <a:noFill/>
          </a:ln>
        </p:spPr>
      </p:pic>
    </p:spTree>
    <p:extLst>
      <p:ext uri="{BB962C8B-B14F-4D97-AF65-F5344CB8AC3E}">
        <p14:creationId xmlns:p14="http://schemas.microsoft.com/office/powerpoint/2010/main" val="95197323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itchFamily="18" charset="0"/>
                <a:cs typeface="Times New Roman" pitchFamily="18" charset="0"/>
              </a:rPr>
              <a:t>Thank You!</a:t>
            </a:r>
          </a:p>
        </p:txBody>
      </p:sp>
      <p:sp>
        <p:nvSpPr>
          <p:cNvPr id="3" name="Content Placeholder 2"/>
          <p:cNvSpPr>
            <a:spLocks noGrp="1"/>
          </p:cNvSpPr>
          <p:nvPr>
            <p:ph idx="1"/>
          </p:nvPr>
        </p:nvSpPr>
        <p:spPr>
          <a:solidFill>
            <a:schemeClr val="accent1">
              <a:lumMod val="40000"/>
              <a:lumOff val="60000"/>
            </a:schemeClr>
          </a:solidFill>
        </p:spPr>
        <p:txBody>
          <a:bodyPr/>
          <a:lstStyle/>
          <a:p>
            <a:pPr marL="0" indent="0" algn="ctr">
              <a:buNone/>
            </a:pPr>
            <a:endParaRPr lang="en-IN" dirty="0" smtClean="0">
              <a:latin typeface="Times New Roman" pitchFamily="18" charset="0"/>
              <a:cs typeface="Times New Roman" pitchFamily="18" charset="0"/>
            </a:endParaRPr>
          </a:p>
          <a:p>
            <a:pPr marL="0" indent="0" algn="ctr">
              <a:buNone/>
            </a:pPr>
            <a:endParaRPr lang="en-IN" dirty="0">
              <a:latin typeface="Times New Roman" pitchFamily="18" charset="0"/>
              <a:cs typeface="Times New Roman" pitchFamily="18" charset="0"/>
            </a:endParaRPr>
          </a:p>
          <a:p>
            <a:pPr marL="0" indent="0" algn="ctr">
              <a:buNone/>
            </a:pPr>
            <a:endParaRPr lang="en-IN" dirty="0" smtClean="0">
              <a:latin typeface="Times New Roman" pitchFamily="18" charset="0"/>
              <a:cs typeface="Times New Roman" pitchFamily="18" charset="0"/>
            </a:endParaRPr>
          </a:p>
          <a:p>
            <a:pPr marL="0" indent="0" algn="ctr">
              <a:buNone/>
            </a:pPr>
            <a:r>
              <a:rPr dirty="0" smtClean="0">
                <a:latin typeface="Times New Roman" pitchFamily="18" charset="0"/>
                <a:cs typeface="Times New Roman" pitchFamily="18" charset="0"/>
              </a:rPr>
              <a:t>Any </a:t>
            </a:r>
            <a:r>
              <a:rPr dirty="0">
                <a:latin typeface="Times New Roman" pitchFamily="18" charset="0"/>
                <a:cs typeface="Times New Roman" pitchFamily="18" charset="0"/>
              </a:rPr>
              <a:t>Questions?</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627</TotalTime>
  <Words>1754</Words>
  <Application>Microsoft Office PowerPoint</Application>
  <PresentationFormat>Custom</PresentationFormat>
  <Paragraphs>253</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PowerPoint Presentation</vt:lpstr>
      <vt:lpstr>Introduction</vt:lpstr>
      <vt:lpstr>Objectives</vt:lpstr>
      <vt:lpstr>Literature Review / Background</vt:lpstr>
      <vt:lpstr>Methodology</vt:lpstr>
      <vt:lpstr>System Design / Architecture</vt:lpstr>
      <vt:lpstr>User Management &amp; Interface</vt:lpstr>
      <vt:lpstr>Regular Language Verification Engine </vt:lpstr>
      <vt:lpstr>Backend &amp; Database</vt:lpstr>
      <vt:lpstr>Reports, Analytics &amp; Testing</vt:lpstr>
      <vt:lpstr>Implementation</vt:lpstr>
      <vt:lpstr>Results &amp; Discussion</vt:lpstr>
      <vt:lpstr>Challenges &amp; Limitations</vt:lpstr>
      <vt:lpstr>Future Scope</vt:lpstr>
      <vt:lpstr>Conclusion</vt:lpstr>
      <vt:lpstr>References</vt:lpstr>
      <vt:lpstr>Thank You!</vt:lpstr>
    </vt:vector>
  </TitlesOfParts>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Capstone Project Title</dc:title>
  <dc:creator>sankar</dc:creator>
  <dc:description>generated using python-pptx</dc:description>
  <cp:lastModifiedBy>DELL</cp:lastModifiedBy>
  <cp:revision>50</cp:revision>
  <dcterms:created xsi:type="dcterms:W3CDTF">2013-01-27T09:14:16Z</dcterms:created>
  <dcterms:modified xsi:type="dcterms:W3CDTF">2026-08-11T06:08:37Z</dcterms:modified>
</cp:coreProperties>
</file>